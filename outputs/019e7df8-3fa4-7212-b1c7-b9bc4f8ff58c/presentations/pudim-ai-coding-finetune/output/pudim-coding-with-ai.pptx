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  <p:sldId id="266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BBA35-CAC4-5093-6CD0-7100506E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094D3-5310-62C8-95F0-3F151E17F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13115-86B2-A32F-632D-D333C56E0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C0B93-61F8-64EA-AD04-60E51265960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5050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E08C-6AF0-3F3B-7C83-CDC1EAE9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F1722-8ECE-945A-E97A-9DD2FAA44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89A0E-55EB-F120-A02B-A4529390E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C362-F73D-94A0-4B0F-6B8831F8E3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099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BFB94-2892-963D-A2C2-2767D7D3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C22F3-B564-9354-21C1-91369D7FB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58246-A6F8-6DD3-D131-26E93F48E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CE3EB-9713-654C-E263-C6A108ED5C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2819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84A612D-AF28-479A-8C35-DC01FC83C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D5455C-D6B0-4077-ABAA-CE601D13A7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DA440F-C985-4433-8F09-5CADCC6A3C65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82050" y="1066800"/>
            <a:ext cx="2381250" cy="2381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99C3AC-C967-4BA7-A5BC-45854A0F2EAE}"/>
              </a:ext>
            </a:extLst>
          </p:cNvPr>
          <p:cNvSpPr>
            <a:spLocks noGrp="1"/>
          </p:cNvSpPr>
          <p:nvPr/>
        </p:nvSpPr>
        <p:spPr>
          <a:xfrm>
            <a:off x="8782050" y="1066800"/>
            <a:ext cx="23812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BD9782-6744-4B28-8F2C-9B20744352B5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78105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proof of the pudding</a:t>
            </a:r>
          </a:p>
          <a:p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is in the eating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2F4378-A4C2-4231-8A30-52E39EDF6284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7429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Pudim as a case study in coding with 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97D967-5E30-4529-B266-3AADA7DE065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FBF8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FBF87"/>
                </a:solidFill>
                <a:latin typeface="Aptos Mono"/>
                <a:ea typeface="Aptos Mono"/>
                <a:cs typeface="Aptos Mono"/>
              </a:rPr>
              <a:t>$pudim: turn a theory into a research runtime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BF04D-9171-452F-9271-E395AAB7CE52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2476500" cy="19050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F201ED-AB74-4BEB-BBEF-5612AF50F4F5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Domingos Salazar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B1A957-9A32-456D-BD1F-649C1DA435A1}"/>
              </a:ext>
            </a:extLst>
          </p:cNvPr>
          <p:cNvSpPr>
            <a:spLocks noGrp="1"/>
          </p:cNvSpPr>
          <p:nvPr/>
        </p:nvSpPr>
        <p:spPr>
          <a:xfrm>
            <a:off x="800100" y="59817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12 min talk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C4ACBF-3566-4463-AC8C-F38FC7D621D2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public pudim-project GitHub avatar + user outline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0D245C-6F44-480F-880A-C0C20919E2E5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931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159A6A0-9CDE-423D-8D28-73100AD9C0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50312DA-2E18-44B4-BC30-CBE513D40E63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5C665A3-B45A-401C-99CC-2509E451A67E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AFC3A0-DF99-4638-99BD-B16F88CD6FFA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334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Pudim is not a prompt. It is a disciplined research-and-publish runtime.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13B29-05DD-4202-ADE7-D7F1A06A919D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7239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D2733"/>
                </a:solidFill>
                <a:latin typeface="Aptos"/>
                <a:ea typeface="Aptos"/>
                <a:cs typeface="Aptos"/>
              </a:rPr>
              <a:t>A Codex skill packages process, roles, tools, schemas, and side-effect rules so a long-running mathematical task can keep state.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AC141E-F895-4C99-9AF4-CE78D52E97B1}"/>
              </a:ext>
            </a:extLst>
          </p:cNvPr>
          <p:cNvSpPr>
            <a:spLocks noGrp="1"/>
          </p:cNvSpPr>
          <p:nvPr/>
        </p:nvSpPr>
        <p:spPr>
          <a:xfrm>
            <a:off x="495300" y="30194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35D4F"/>
                </a:solidFill>
                <a:latin typeface="Aptos Mono"/>
                <a:ea typeface="Aptos Mono"/>
                <a:cs typeface="Aptos Mono"/>
              </a:defRPr>
            </a:pPr>
            <a:r>
              <a:rPr lang="en-US" sz="2800" b="1" dirty="0">
                <a:solidFill>
                  <a:srgbClr val="C00000"/>
                </a:solidFill>
                <a:latin typeface="Aptos"/>
                <a:ea typeface="Aptos Mono"/>
                <a:cs typeface="Aptos Mono"/>
              </a:rPr>
              <a:t>$</a:t>
            </a:r>
            <a:r>
              <a:rPr lang="en-US" sz="2800" dirty="0" err="1">
                <a:solidFill>
                  <a:srgbClr val="C00000"/>
                </a:solidFill>
                <a:latin typeface="Aptos"/>
              </a:rPr>
              <a:t>pudim</a:t>
            </a:r>
            <a:endParaRPr sz="1650" dirty="0">
              <a:solidFill>
                <a:srgbClr val="C00000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A323D7-892B-4E81-ADDF-D5A7E30B8265}"/>
              </a:ext>
            </a:extLst>
          </p:cNvPr>
          <p:cNvSpPr>
            <a:spLocks noGrp="1"/>
          </p:cNvSpPr>
          <p:nvPr/>
        </p:nvSpPr>
        <p:spPr>
          <a:xfrm>
            <a:off x="2724150" y="310515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E24177-17FE-4EBF-98F6-FA36B6ABFC93}"/>
              </a:ext>
            </a:extLst>
          </p:cNvPr>
          <p:cNvSpPr>
            <a:spLocks noGrp="1"/>
          </p:cNvSpPr>
          <p:nvPr/>
        </p:nvSpPr>
        <p:spPr>
          <a:xfrm>
            <a:off x="3295650" y="283845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31B595-D689-4BFF-8ADC-621C9F3E745C}"/>
              </a:ext>
            </a:extLst>
          </p:cNvPr>
          <p:cNvSpPr>
            <a:spLocks noGrp="1"/>
          </p:cNvSpPr>
          <p:nvPr/>
        </p:nvSpPr>
        <p:spPr>
          <a:xfrm>
            <a:off x="3295650" y="2838450"/>
            <a:ext cx="2476500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260356-DA86-4D60-B9B1-0C7273A95F83}"/>
              </a:ext>
            </a:extLst>
          </p:cNvPr>
          <p:cNvSpPr>
            <a:spLocks noGrp="1"/>
          </p:cNvSpPr>
          <p:nvPr/>
        </p:nvSpPr>
        <p:spPr>
          <a:xfrm>
            <a:off x="3438525" y="2990850"/>
            <a:ext cx="2190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Research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00BF79-823A-433C-9B78-8C7FAB5F7698}"/>
              </a:ext>
            </a:extLst>
          </p:cNvPr>
          <p:cNvSpPr>
            <a:spLocks noGrp="1"/>
          </p:cNvSpPr>
          <p:nvPr/>
        </p:nvSpPr>
        <p:spPr>
          <a:xfrm>
            <a:off x="3438525" y="3267075"/>
            <a:ext cx="21907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Advisor / Student / Librarian / Scout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142EC6-37A3-45A5-B69C-83901742DF23}"/>
              </a:ext>
            </a:extLst>
          </p:cNvPr>
          <p:cNvSpPr>
            <a:spLocks noGrp="1"/>
          </p:cNvSpPr>
          <p:nvPr/>
        </p:nvSpPr>
        <p:spPr>
          <a:xfrm>
            <a:off x="5962650" y="310515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1459FC-7F7C-4004-9029-D56E3C30A4FE}"/>
              </a:ext>
            </a:extLst>
          </p:cNvPr>
          <p:cNvSpPr>
            <a:spLocks noGrp="1"/>
          </p:cNvSpPr>
          <p:nvPr/>
        </p:nvSpPr>
        <p:spPr>
          <a:xfrm>
            <a:off x="6534150" y="283845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1E959-225D-43E4-849F-18E4705DDFB7}"/>
              </a:ext>
            </a:extLst>
          </p:cNvPr>
          <p:cNvSpPr>
            <a:spLocks noGrp="1"/>
          </p:cNvSpPr>
          <p:nvPr/>
        </p:nvSpPr>
        <p:spPr>
          <a:xfrm>
            <a:off x="6534150" y="2838450"/>
            <a:ext cx="2476500" cy="4762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BAAAC0-7750-4E19-8FD8-6E2B7C2C07EF}"/>
              </a:ext>
            </a:extLst>
          </p:cNvPr>
          <p:cNvSpPr>
            <a:spLocks noGrp="1"/>
          </p:cNvSpPr>
          <p:nvPr/>
        </p:nvSpPr>
        <p:spPr>
          <a:xfrm>
            <a:off x="6677025" y="2990850"/>
            <a:ext cx="2190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Audited artifacts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17E6A6-03AD-4F90-B991-D921F8835CCE}"/>
              </a:ext>
            </a:extLst>
          </p:cNvPr>
          <p:cNvSpPr>
            <a:spLocks noGrp="1"/>
          </p:cNvSpPr>
          <p:nvPr/>
        </p:nvSpPr>
        <p:spPr>
          <a:xfrm>
            <a:off x="6677025" y="3267075"/>
            <a:ext cx="21907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Wiki, Theory graph, raw logs, gates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C0C399-4C53-4EE6-AE9A-2EEA0E2740C6}"/>
              </a:ext>
            </a:extLst>
          </p:cNvPr>
          <p:cNvSpPr>
            <a:spLocks noGrp="1"/>
          </p:cNvSpPr>
          <p:nvPr/>
        </p:nvSpPr>
        <p:spPr>
          <a:xfrm>
            <a:off x="9201150" y="3105150"/>
            <a:ext cx="40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838A7-0F85-48BE-AB1B-8BB3A43DE285}"/>
              </a:ext>
            </a:extLst>
          </p:cNvPr>
          <p:cNvSpPr>
            <a:spLocks noGrp="1"/>
          </p:cNvSpPr>
          <p:nvPr/>
        </p:nvSpPr>
        <p:spPr>
          <a:xfrm>
            <a:off x="9753600" y="2838450"/>
            <a:ext cx="1905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93BF4-C578-4BCF-92DE-F0EB8BA85B99}"/>
              </a:ext>
            </a:extLst>
          </p:cNvPr>
          <p:cNvSpPr>
            <a:spLocks noGrp="1"/>
          </p:cNvSpPr>
          <p:nvPr/>
        </p:nvSpPr>
        <p:spPr>
          <a:xfrm>
            <a:off x="9753600" y="2838450"/>
            <a:ext cx="1905000" cy="4762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6D7C08-084A-4BA2-BD75-93B2999F0A0F}"/>
              </a:ext>
            </a:extLst>
          </p:cNvPr>
          <p:cNvSpPr>
            <a:spLocks noGrp="1"/>
          </p:cNvSpPr>
          <p:nvPr/>
        </p:nvSpPr>
        <p:spPr>
          <a:xfrm>
            <a:off x="9896475" y="2990850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Public 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6210AD-50FA-41CC-8D7F-E511DA0C3B0B}"/>
              </a:ext>
            </a:extLst>
          </p:cNvPr>
          <p:cNvSpPr>
            <a:spLocks noGrp="1"/>
          </p:cNvSpPr>
          <p:nvPr/>
        </p:nvSpPr>
        <p:spPr>
          <a:xfrm>
            <a:off x="9896475" y="3267075"/>
            <a:ext cx="16192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PDF, GitHub ledger, Gmail drafts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B8BFBB-02E0-421D-88DE-36FEAEC9D7EC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819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 statistics come later. First, the audience needs the operating model.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91FAF1-9F38-4F79-B63F-67824DEE569D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skill contract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47BF6-EF93-4583-B7FC-B1A0D5CA42BD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867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74C8D14-16C3-46A8-A335-595A66361D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733"/>
          </a:solidFill>
          <a:ln w="0">
            <a:solidFill>
              <a:srgbClr val="1D2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E723570-0B12-470A-8E45-9746F314E34D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3E6E34E-A77A-4E7A-9D51-784383B5EE44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2DDA8-F004-4768-8E5A-6D86FBF3D8DC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657225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trophy-problem lane is crowded.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D398-6F72-4D14-BA70-5A26002CC51C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5334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If the demo is “AI one-shots a famous problem,” you are competing with frontier labs, public trackers, and viral open-problem wins.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968D27-51CE-4BFE-99B6-75C28B71F635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333625" cy="1352550"/>
          </a:xfrm>
          <a:prstGeom prst="rect">
            <a:avLst/>
          </a:prstGeom>
          <a:solidFill>
            <a:srgbClr val="26313D"/>
          </a:solidFill>
          <a:ln w="9525">
            <a:solidFill>
              <a:srgbClr val="485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2812FE-2FC5-4E38-968A-5E0613D50587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333625" cy="4762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B716B1-1D00-4F3E-BC47-CCF048DF43D0}"/>
              </a:ext>
            </a:extLst>
          </p:cNvPr>
          <p:cNvSpPr>
            <a:spLocks noGrp="1"/>
          </p:cNvSpPr>
          <p:nvPr/>
        </p:nvSpPr>
        <p:spPr>
          <a:xfrm>
            <a:off x="828675" y="3486150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Erdos-style wins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1CBAB5-D921-4C78-B93A-0B84289C45A1}"/>
              </a:ext>
            </a:extLst>
          </p:cNvPr>
          <p:cNvSpPr>
            <a:spLocks noGrp="1"/>
          </p:cNvSpPr>
          <p:nvPr/>
        </p:nvSpPr>
        <p:spPr>
          <a:xfrm>
            <a:off x="828675" y="3762375"/>
            <a:ext cx="2047875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Amateur and assisted proofs are becoming public examples, not private fantasies.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358E09-F0C2-4380-A4BD-30BAEC7C7F33}"/>
              </a:ext>
            </a:extLst>
          </p:cNvPr>
          <p:cNvSpPr>
            <a:spLocks noGrp="1"/>
          </p:cNvSpPr>
          <p:nvPr/>
        </p:nvSpPr>
        <p:spPr>
          <a:xfrm>
            <a:off x="3124200" y="3810000"/>
            <a:ext cx="361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85A6EA-590A-44F8-9481-2D4A74773221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2333625" cy="1352550"/>
          </a:xfrm>
          <a:prstGeom prst="rect">
            <a:avLst/>
          </a:prstGeom>
          <a:solidFill>
            <a:srgbClr val="26313D"/>
          </a:solidFill>
          <a:ln w="9525">
            <a:solidFill>
              <a:srgbClr val="485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701EC1-63A6-4C14-BE35-169BE9E4B191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2333625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5470A-7C32-4F7C-A2A9-1A8106251728}"/>
              </a:ext>
            </a:extLst>
          </p:cNvPr>
          <p:cNvSpPr>
            <a:spLocks noGrp="1"/>
          </p:cNvSpPr>
          <p:nvPr/>
        </p:nvSpPr>
        <p:spPr>
          <a:xfrm>
            <a:off x="3743325" y="3486150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Frontier labs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FF364D-628A-4A22-A3C9-2A57CFA8392F}"/>
              </a:ext>
            </a:extLst>
          </p:cNvPr>
          <p:cNvSpPr>
            <a:spLocks noGrp="1"/>
          </p:cNvSpPr>
          <p:nvPr/>
        </p:nvSpPr>
        <p:spPr>
          <a:xfrm>
            <a:off x="3743325" y="3762375"/>
            <a:ext cx="2047875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Research-grade systems increasingly target named open math problems.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87C689-4E1D-4E8D-9453-564AFBB1A447}"/>
              </a:ext>
            </a:extLst>
          </p:cNvPr>
          <p:cNvSpPr>
            <a:spLocks noGrp="1"/>
          </p:cNvSpPr>
          <p:nvPr/>
        </p:nvSpPr>
        <p:spPr>
          <a:xfrm>
            <a:off x="6038850" y="3810000"/>
            <a:ext cx="361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C61CF3-FDC8-40B3-BE1A-D1DBAF8ABCD2}"/>
              </a:ext>
            </a:extLst>
          </p:cNvPr>
          <p:cNvSpPr>
            <a:spLocks noGrp="1"/>
          </p:cNvSpPr>
          <p:nvPr/>
        </p:nvSpPr>
        <p:spPr>
          <a:xfrm>
            <a:off x="6515100" y="3333750"/>
            <a:ext cx="2333625" cy="1352550"/>
          </a:xfrm>
          <a:prstGeom prst="rect">
            <a:avLst/>
          </a:prstGeom>
          <a:solidFill>
            <a:srgbClr val="26313D"/>
          </a:solidFill>
          <a:ln w="9525">
            <a:solidFill>
              <a:srgbClr val="485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A9A43-8849-4CAB-A829-94298529EB6C}"/>
              </a:ext>
            </a:extLst>
          </p:cNvPr>
          <p:cNvSpPr>
            <a:spLocks noGrp="1"/>
          </p:cNvSpPr>
          <p:nvPr/>
        </p:nvSpPr>
        <p:spPr>
          <a:xfrm>
            <a:off x="6515100" y="3333750"/>
            <a:ext cx="2333625" cy="4762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057BD5-BC3A-4BD1-A0FF-944FB686CAAF}"/>
              </a:ext>
            </a:extLst>
          </p:cNvPr>
          <p:cNvSpPr>
            <a:spLocks noGrp="1"/>
          </p:cNvSpPr>
          <p:nvPr/>
        </p:nvSpPr>
        <p:spPr>
          <a:xfrm>
            <a:off x="6657975" y="3486150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Community trackers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064961-BE36-44F0-9542-FC1A407C2B17}"/>
              </a:ext>
            </a:extLst>
          </p:cNvPr>
          <p:cNvSpPr>
            <a:spLocks noGrp="1"/>
          </p:cNvSpPr>
          <p:nvPr/>
        </p:nvSpPr>
        <p:spPr>
          <a:xfrm>
            <a:off x="6657975" y="3762375"/>
            <a:ext cx="2047875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Solved-problem repositories make the frontier visible and fast-moving.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01A553-3CC6-4730-BAE6-F20AB1FE20F5}"/>
              </a:ext>
            </a:extLst>
          </p:cNvPr>
          <p:cNvSpPr>
            <a:spLocks noGrp="1"/>
          </p:cNvSpPr>
          <p:nvPr/>
        </p:nvSpPr>
        <p:spPr>
          <a:xfrm>
            <a:off x="8953500" y="3810000"/>
            <a:ext cx="361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A30007-7EB2-490C-B5D4-CB047F572D25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2095500" cy="1352550"/>
          </a:xfrm>
          <a:prstGeom prst="rect">
            <a:avLst/>
          </a:prstGeom>
          <a:solidFill>
            <a:srgbClr val="26313D"/>
          </a:solidFill>
          <a:ln w="9525">
            <a:solidFill>
              <a:srgbClr val="4854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C059C4-8FCE-4CCD-9DF8-0073FFC2C388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2095500" cy="4762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B6F6BC-AA50-4478-BB8D-189897AF3B99}"/>
              </a:ext>
            </a:extLst>
          </p:cNvPr>
          <p:cNvSpPr>
            <a:spLocks noGrp="1"/>
          </p:cNvSpPr>
          <p:nvPr/>
        </p:nvSpPr>
        <p:spPr>
          <a:xfrm>
            <a:off x="9572625" y="3486150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Higher bar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C97554-F161-454D-9DAA-A10F5A8445DD}"/>
              </a:ext>
            </a:extLst>
          </p:cNvPr>
          <p:cNvSpPr>
            <a:spLocks noGrp="1"/>
          </p:cNvSpPr>
          <p:nvPr/>
        </p:nvSpPr>
        <p:spPr>
          <a:xfrm>
            <a:off x="9572625" y="3762375"/>
            <a:ext cx="1809750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One-shotting famous lists is less differentiated than building repeatable process.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43E888-96DD-440B-B701-1DB2A04CA160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695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Talk note: examples should be cited or softened in the live version if used as news claims.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BC98D1-7660-428D-BFD4-EDCC3783A56B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Context slide: user outline; exact examples should be source-checked before public reuse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F78E55-B7F0-45E1-96E0-82B4B09A8A57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737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8762869-88CC-4818-B0C2-F2D5880DCD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2BA6A9F-ACD8-4F67-BC6B-50B41F0D0423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AAA931F-9D43-4680-8CC1-5D5193DFAECC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8785F-0FCD-42AA-9D1B-8D28BAC43325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7620000" cy="1114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Under HTC, build a theory first,</a:t>
            </a:r>
          </a:p>
          <a:p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then search for digestible problems.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484B2-A5BF-4F3F-A854-90EE0D25F2AE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HTC = High Tropicality Conditions: assume a small token budget and a very competitive public frontier.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5DB4F1-4960-408F-9D06-25DD36906CC3}"/>
              </a:ext>
            </a:extLst>
          </p:cNvPr>
          <p:cNvSpPr>
            <a:spLocks noGrp="1"/>
          </p:cNvSpPr>
          <p:nvPr/>
        </p:nvSpPr>
        <p:spPr>
          <a:xfrm>
            <a:off x="8820150" y="1123950"/>
            <a:ext cx="22860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4CCB3-0BCC-4E73-A2F3-6914C60190B9}"/>
              </a:ext>
            </a:extLst>
          </p:cNvPr>
          <p:cNvSpPr>
            <a:spLocks noGrp="1"/>
          </p:cNvSpPr>
          <p:nvPr/>
        </p:nvSpPr>
        <p:spPr>
          <a:xfrm>
            <a:off x="8820150" y="1123950"/>
            <a:ext cx="47625" cy="1123950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4C6A6C-1508-48B8-92D9-15C0BFBE5CCB}"/>
              </a:ext>
            </a:extLst>
          </p:cNvPr>
          <p:cNvSpPr>
            <a:spLocks noGrp="1"/>
          </p:cNvSpPr>
          <p:nvPr/>
        </p:nvSpPr>
        <p:spPr>
          <a:xfrm>
            <a:off x="9010650" y="1295400"/>
            <a:ext cx="19621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$100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19131E-664B-4DEE-AEE0-EEEBD10CEDEC}"/>
              </a:ext>
            </a:extLst>
          </p:cNvPr>
          <p:cNvSpPr>
            <a:spLocks noGrp="1"/>
          </p:cNvSpPr>
          <p:nvPr/>
        </p:nvSpPr>
        <p:spPr>
          <a:xfrm>
            <a:off x="9029700" y="1704975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per month token budget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6A53AF-0CC0-4344-BD05-F66A9B3E1BEF}"/>
              </a:ext>
            </a:extLst>
          </p:cNvPr>
          <p:cNvSpPr>
            <a:spLocks noGrp="1"/>
          </p:cNvSpPr>
          <p:nvPr/>
        </p:nvSpPr>
        <p:spPr>
          <a:xfrm>
            <a:off x="9029700" y="1952625"/>
            <a:ext cx="1943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scarcity forces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A74A8-88B1-4E33-8714-A8CC179C0A9F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2476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FE1F0D-9F77-43F8-852C-10529F07B189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2476500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C7E961-9DF4-49C8-AC6D-7016A2E4B864}"/>
              </a:ext>
            </a:extLst>
          </p:cNvPr>
          <p:cNvSpPr>
            <a:spLocks noGrp="1"/>
          </p:cNvSpPr>
          <p:nvPr/>
        </p:nvSpPr>
        <p:spPr>
          <a:xfrm>
            <a:off x="885825" y="3295650"/>
            <a:ext cx="2190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Start with an idea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585B6-DF91-482C-89E7-20F81542B105}"/>
              </a:ext>
            </a:extLst>
          </p:cNvPr>
          <p:cNvSpPr>
            <a:spLocks noGrp="1"/>
          </p:cNvSpPr>
          <p:nvPr/>
        </p:nvSpPr>
        <p:spPr>
          <a:xfrm>
            <a:off x="885825" y="3571875"/>
            <a:ext cx="21907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zeta-law / gamma curvature / positivity calculus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ECC59-5EB8-4A06-95D8-F8B887E589C9}"/>
              </a:ext>
            </a:extLst>
          </p:cNvPr>
          <p:cNvSpPr>
            <a:spLocks noGrp="1"/>
          </p:cNvSpPr>
          <p:nvPr/>
        </p:nvSpPr>
        <p:spPr>
          <a:xfrm>
            <a:off x="3352800" y="3562350"/>
            <a:ext cx="361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CE0880-0C9A-4DFB-A73B-76BA78FED069}"/>
              </a:ext>
            </a:extLst>
          </p:cNvPr>
          <p:cNvSpPr>
            <a:spLocks noGrp="1"/>
          </p:cNvSpPr>
          <p:nvPr/>
        </p:nvSpPr>
        <p:spPr>
          <a:xfrm>
            <a:off x="3867150" y="3143250"/>
            <a:ext cx="2476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2F5208-5459-41DD-8B3A-C789647C1CE7}"/>
              </a:ext>
            </a:extLst>
          </p:cNvPr>
          <p:cNvSpPr>
            <a:spLocks noGrp="1"/>
          </p:cNvSpPr>
          <p:nvPr/>
        </p:nvSpPr>
        <p:spPr>
          <a:xfrm>
            <a:off x="3867150" y="3143250"/>
            <a:ext cx="2476500" cy="4762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BAEE11-08D0-404C-B985-EEA06C5AA247}"/>
              </a:ext>
            </a:extLst>
          </p:cNvPr>
          <p:cNvSpPr>
            <a:spLocks noGrp="1"/>
          </p:cNvSpPr>
          <p:nvPr/>
        </p:nvSpPr>
        <p:spPr>
          <a:xfrm>
            <a:off x="4010025" y="3295650"/>
            <a:ext cx="2190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Forage the web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F517EB-9118-4A9E-AE2B-C81FE87CF290}"/>
              </a:ext>
            </a:extLst>
          </p:cNvPr>
          <p:cNvSpPr>
            <a:spLocks noGrp="1"/>
          </p:cNvSpPr>
          <p:nvPr/>
        </p:nvSpPr>
        <p:spPr>
          <a:xfrm>
            <a:off x="4010025" y="3571875"/>
            <a:ext cx="21907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find source-open problems that match the current tools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0D29BC-AAC1-41C7-BB30-39CE1DC2484D}"/>
              </a:ext>
            </a:extLst>
          </p:cNvPr>
          <p:cNvSpPr>
            <a:spLocks noGrp="1"/>
          </p:cNvSpPr>
          <p:nvPr/>
        </p:nvSpPr>
        <p:spPr>
          <a:xfrm>
            <a:off x="6477000" y="3562350"/>
            <a:ext cx="361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45A32-68D2-4FA5-9142-0E857CA02DF1}"/>
              </a:ext>
            </a:extLst>
          </p:cNvPr>
          <p:cNvSpPr>
            <a:spLocks noGrp="1"/>
          </p:cNvSpPr>
          <p:nvPr/>
        </p:nvSpPr>
        <p:spPr>
          <a:xfrm>
            <a:off x="6991350" y="3143250"/>
            <a:ext cx="2476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87343F-FD78-4ED5-A99A-DB41B39311A8}"/>
              </a:ext>
            </a:extLst>
          </p:cNvPr>
          <p:cNvSpPr>
            <a:spLocks noGrp="1"/>
          </p:cNvSpPr>
          <p:nvPr/>
        </p:nvSpPr>
        <p:spPr>
          <a:xfrm>
            <a:off x="6991350" y="3143250"/>
            <a:ext cx="2476500" cy="4762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11CCCB-7677-4B72-9A72-26E9D5F28685}"/>
              </a:ext>
            </a:extLst>
          </p:cNvPr>
          <p:cNvSpPr>
            <a:spLocks noGrp="1"/>
          </p:cNvSpPr>
          <p:nvPr/>
        </p:nvSpPr>
        <p:spPr>
          <a:xfrm>
            <a:off x="7134225" y="3295650"/>
            <a:ext cx="2190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Attack locally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9FE2FF-BA00-44E1-B028-AEA9D35F3EC9}"/>
              </a:ext>
            </a:extLst>
          </p:cNvPr>
          <p:cNvSpPr>
            <a:spLocks noGrp="1"/>
          </p:cNvSpPr>
          <p:nvPr/>
        </p:nvSpPr>
        <p:spPr>
          <a:xfrm>
            <a:off x="7134225" y="3571875"/>
            <a:ext cx="21907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prove, refute, or leave open with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AD30B7-CF2A-49D5-B8F6-8DB0BD1EB39D}"/>
              </a:ext>
            </a:extLst>
          </p:cNvPr>
          <p:cNvSpPr>
            <a:spLocks noGrp="1"/>
          </p:cNvSpPr>
          <p:nvPr/>
        </p:nvSpPr>
        <p:spPr>
          <a:xfrm>
            <a:off x="9601200" y="3562350"/>
            <a:ext cx="361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3EFB67-EB62-4C0A-A095-2C9526ACBF47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1809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C89D02-9A4A-4F2E-BCC3-BFD6D69F918E}"/>
              </a:ext>
            </a:extLst>
          </p:cNvPr>
          <p:cNvSpPr>
            <a:spLocks noGrp="1"/>
          </p:cNvSpPr>
          <p:nvPr/>
        </p:nvSpPr>
        <p:spPr>
          <a:xfrm>
            <a:off x="10039350" y="3143250"/>
            <a:ext cx="1809750" cy="4762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BC8B07-8134-485A-9765-1D1FAB1E1D1D}"/>
              </a:ext>
            </a:extLst>
          </p:cNvPr>
          <p:cNvSpPr>
            <a:spLocks noGrp="1"/>
          </p:cNvSpPr>
          <p:nvPr/>
        </p:nvSpPr>
        <p:spPr>
          <a:xfrm>
            <a:off x="10182225" y="3295650"/>
            <a:ext cx="152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Stage only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9F2A11-B8FB-4C9B-9A88-695DA98D748E}"/>
              </a:ext>
            </a:extLst>
          </p:cNvPr>
          <p:cNvSpPr>
            <a:spLocks noGrp="1"/>
          </p:cNvSpPr>
          <p:nvPr/>
        </p:nvSpPr>
        <p:spPr>
          <a:xfrm>
            <a:off x="10182225" y="3571875"/>
            <a:ext cx="1524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publish audited applications, not raw ambition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C4A026-9D92-42B5-A62C-822A8A89F840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8858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 inversion is the point: not “pick Erdős, then pray”; instead, “grow a theory, then let Scout/Oracle find where it bites.”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C225B9-B4E9-41AA-AAF9-B1A41DE6F4D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Pudim / coding with AI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EC23BE-CEFC-4BEE-9695-3E5258455296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615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BBD7522-11D7-47AD-B0F3-505F54FBD8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BE29745-5986-4226-9745-7BDDA8225173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391EC2A-5F3F-4836-B9B2-9C9AAFB4F9E9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A5B2C-A415-4F1E-A00D-61977CAA761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75247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Skill as a system,</a:t>
            </a:r>
          </a:p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not one clever prompt.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B9D27C-ADB5-44C2-8BE3-CF4A411674B8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4762500" cy="2781300"/>
          </a:xfrm>
          <a:prstGeom prst="rect">
            <a:avLst/>
          </a:prstGeom>
          <a:solidFill>
            <a:srgbClr val="26313D"/>
          </a:solidFill>
          <a:ln w="9525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83A851-7D7E-401D-94A9-C82015CB3FE9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4762500" cy="2781300"/>
          </a:xfrm>
          <a:prstGeom prst="rect">
            <a:avLst/>
          </a:prstGeom>
          <a:solidFill>
            <a:srgbClr val="26313D"/>
          </a:solidFill>
          <a:ln w="9525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AA38A-CA60-449E-943D-382B3E401D86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3810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Typical AI coding story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B15B29-4CD1-48B5-9ED8-5220F73AB525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3905250" cy="11906"/>
          </a:xfrm>
          <a:prstGeom prst="rect">
            <a:avLst/>
          </a:prstGeom>
          <a:solidFill>
            <a:srgbClr val="3A4653"/>
          </a:solidFill>
          <a:ln w="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651587-E71C-400B-84AB-B9BD8BD63B5D}"/>
              </a:ext>
            </a:extLst>
          </p:cNvPr>
          <p:cNvSpPr>
            <a:spLocks noGrp="1"/>
          </p:cNvSpPr>
          <p:nvPr/>
        </p:nvSpPr>
        <p:spPr>
          <a:xfrm>
            <a:off x="1047750" y="33623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2844C9-9EDA-4C6C-93A7-2CACEDA3CF65}"/>
              </a:ext>
            </a:extLst>
          </p:cNvPr>
          <p:cNvSpPr>
            <a:spLocks noGrp="1"/>
          </p:cNvSpPr>
          <p:nvPr/>
        </p:nvSpPr>
        <p:spPr>
          <a:xfrm>
            <a:off x="1257300" y="32766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Ask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F563BE-6D95-4D05-B386-136D8B362A9F}"/>
              </a:ext>
            </a:extLst>
          </p:cNvPr>
          <p:cNvSpPr>
            <a:spLocks noGrp="1"/>
          </p:cNvSpPr>
          <p:nvPr/>
        </p:nvSpPr>
        <p:spPr>
          <a:xfrm>
            <a:off x="1047750" y="37052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2686D3-72FB-407B-AE2F-CA6705BB6339}"/>
              </a:ext>
            </a:extLst>
          </p:cNvPr>
          <p:cNvSpPr>
            <a:spLocks noGrp="1"/>
          </p:cNvSpPr>
          <p:nvPr/>
        </p:nvSpPr>
        <p:spPr>
          <a:xfrm>
            <a:off x="1257300" y="36195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Get code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EE4FCC-878F-4B12-97D7-5B4BD61404EB}"/>
              </a:ext>
            </a:extLst>
          </p:cNvPr>
          <p:cNvSpPr>
            <a:spLocks noGrp="1"/>
          </p:cNvSpPr>
          <p:nvPr/>
        </p:nvSpPr>
        <p:spPr>
          <a:xfrm>
            <a:off x="1047750" y="40481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33F146-4BAA-4B7A-BFB3-E60B850275C4}"/>
              </a:ext>
            </a:extLst>
          </p:cNvPr>
          <p:cNvSpPr>
            <a:spLocks noGrp="1"/>
          </p:cNvSpPr>
          <p:nvPr/>
        </p:nvSpPr>
        <p:spPr>
          <a:xfrm>
            <a:off x="1257300" y="39624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Fix obvious bugs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75A64-3D56-4536-BFC3-BA331292ADD1}"/>
              </a:ext>
            </a:extLst>
          </p:cNvPr>
          <p:cNvSpPr>
            <a:spLocks noGrp="1"/>
          </p:cNvSpPr>
          <p:nvPr/>
        </p:nvSpPr>
        <p:spPr>
          <a:xfrm>
            <a:off x="1047750" y="43910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2192A7-0AE6-4061-BBCB-0D48EE108413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Hope context survives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0432A-3140-474B-A246-D0E976F939A9}"/>
              </a:ext>
            </a:extLst>
          </p:cNvPr>
          <p:cNvSpPr>
            <a:spLocks noGrp="1"/>
          </p:cNvSpPr>
          <p:nvPr/>
        </p:nvSpPr>
        <p:spPr>
          <a:xfrm>
            <a:off x="6991350" y="2495550"/>
            <a:ext cx="3810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Pudim 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74FE42-AAB5-4476-9943-BF248392DF5A}"/>
              </a:ext>
            </a:extLst>
          </p:cNvPr>
          <p:cNvSpPr>
            <a:spLocks noGrp="1"/>
          </p:cNvSpPr>
          <p:nvPr/>
        </p:nvSpPr>
        <p:spPr>
          <a:xfrm>
            <a:off x="6991350" y="2971800"/>
            <a:ext cx="3905250" cy="11906"/>
          </a:xfrm>
          <a:prstGeom prst="rect">
            <a:avLst/>
          </a:prstGeom>
          <a:solidFill>
            <a:srgbClr val="3A4653"/>
          </a:solidFill>
          <a:ln w="0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2807B-454B-4BA7-AD5D-DE5D4BCAF17F}"/>
              </a:ext>
            </a:extLst>
          </p:cNvPr>
          <p:cNvSpPr>
            <a:spLocks noGrp="1"/>
          </p:cNvSpPr>
          <p:nvPr/>
        </p:nvSpPr>
        <p:spPr>
          <a:xfrm>
            <a:off x="7010400" y="3362325"/>
            <a:ext cx="66675" cy="6667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3DBDA3-B7F2-4026-A527-81356416A302}"/>
              </a:ext>
            </a:extLst>
          </p:cNvPr>
          <p:cNvSpPr>
            <a:spLocks noGrp="1"/>
          </p:cNvSpPr>
          <p:nvPr/>
        </p:nvSpPr>
        <p:spPr>
          <a:xfrm>
            <a:off x="7219950" y="32766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Encode roles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C4DCF-0C6C-4B35-BF76-4DD4431920BE}"/>
              </a:ext>
            </a:extLst>
          </p:cNvPr>
          <p:cNvSpPr>
            <a:spLocks noGrp="1"/>
          </p:cNvSpPr>
          <p:nvPr/>
        </p:nvSpPr>
        <p:spPr>
          <a:xfrm>
            <a:off x="7010400" y="3705225"/>
            <a:ext cx="66675" cy="6667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CCC568-DA2B-4AE3-9B93-3D84E510FE11}"/>
              </a:ext>
            </a:extLst>
          </p:cNvPr>
          <p:cNvSpPr>
            <a:spLocks noGrp="1"/>
          </p:cNvSpPr>
          <p:nvPr/>
        </p:nvSpPr>
        <p:spPr>
          <a:xfrm>
            <a:off x="7219950" y="36195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Persist artifacts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45CB84-03B0-4F35-915C-70E0381CAD3F}"/>
              </a:ext>
            </a:extLst>
          </p:cNvPr>
          <p:cNvSpPr>
            <a:spLocks noGrp="1"/>
          </p:cNvSpPr>
          <p:nvPr/>
        </p:nvSpPr>
        <p:spPr>
          <a:xfrm>
            <a:off x="7010400" y="4048125"/>
            <a:ext cx="66675" cy="6667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25C68F-BF77-4D35-939F-586B524077B5}"/>
              </a:ext>
            </a:extLst>
          </p:cNvPr>
          <p:cNvSpPr>
            <a:spLocks noGrp="1"/>
          </p:cNvSpPr>
          <p:nvPr/>
        </p:nvSpPr>
        <p:spPr>
          <a:xfrm>
            <a:off x="7219950" y="39624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Gate authority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1C9EDC-FFEA-4245-B8CF-15CBF5DF1033}"/>
              </a:ext>
            </a:extLst>
          </p:cNvPr>
          <p:cNvSpPr>
            <a:spLocks noGrp="1"/>
          </p:cNvSpPr>
          <p:nvPr/>
        </p:nvSpPr>
        <p:spPr>
          <a:xfrm>
            <a:off x="7010400" y="4391025"/>
            <a:ext cx="66675" cy="6667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CC0A1E-764F-433B-BDE5-EF3BA75F5C74}"/>
              </a:ext>
            </a:extLst>
          </p:cNvPr>
          <p:cNvSpPr>
            <a:spLocks noGrp="1"/>
          </p:cNvSpPr>
          <p:nvPr/>
        </p:nvSpPr>
        <p:spPr>
          <a:xfrm>
            <a:off x="7219950" y="4305300"/>
            <a:ext cx="3600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Audit before publish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DA0EDE-C68C-440C-8F48-3D75BFB73B49}"/>
              </a:ext>
            </a:extLst>
          </p:cNvPr>
          <p:cNvSpPr>
            <a:spLocks noGrp="1"/>
          </p:cNvSpPr>
          <p:nvPr/>
        </p:nvSpPr>
        <p:spPr>
          <a:xfrm>
            <a:off x="1238250" y="5562600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answer matters. The system around the answer matters more.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350CC9-4084-470B-9472-47D097E96407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skill contract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B37120-03A7-4990-969E-5EB4BF7B118C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138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286FC89B-6163-411C-8463-88514DBE7D16}"/>
              </a:ext>
            </a:extLst>
          </p:cNvPr>
          <p:cNvSpPr>
            <a:spLocks noGrp="1"/>
          </p:cNvSpPr>
          <p:nvPr/>
        </p:nvSpPr>
        <p:spPr>
          <a:xfrm>
            <a:off x="-80412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FC57D4A-12E3-4D6C-A49C-D660476EC933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B29763D-B64E-4D1B-BD6E-4806E806B8B1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7DA1F6-F997-4366-B733-892047773840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Separation of powers mirrors the actual runtime loop.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E3A13-AED5-4AD0-B5A8-A48198DF506C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257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6917D-9346-429E-A1A0-B640C37C3851}"/>
              </a:ext>
            </a:extLst>
          </p:cNvPr>
          <p:cNvSpPr>
            <a:spLocks noGrp="1"/>
          </p:cNvSpPr>
          <p:nvPr/>
        </p:nvSpPr>
        <p:spPr>
          <a:xfrm>
            <a:off x="438150" y="2247900"/>
            <a:ext cx="1257300" cy="4762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26DDC-1A8B-418B-B6BE-C3C1B50A63F2}"/>
              </a:ext>
            </a:extLst>
          </p:cNvPr>
          <p:cNvSpPr>
            <a:spLocks noGrp="1"/>
          </p:cNvSpPr>
          <p:nvPr/>
        </p:nvSpPr>
        <p:spPr>
          <a:xfrm>
            <a:off x="581025" y="2400300"/>
            <a:ext cx="971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User Goal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06A07-1008-42C4-82C1-7D982D187F1B}"/>
              </a:ext>
            </a:extLst>
          </p:cNvPr>
          <p:cNvSpPr>
            <a:spLocks noGrp="1"/>
          </p:cNvSpPr>
          <p:nvPr/>
        </p:nvSpPr>
        <p:spPr>
          <a:xfrm>
            <a:off x="581025" y="2676525"/>
            <a:ext cx="9715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terminal objective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15B4F6-D8F1-4200-AC47-18D915165BBD}"/>
              </a:ext>
            </a:extLst>
          </p:cNvPr>
          <p:cNvSpPr>
            <a:spLocks noGrp="1"/>
          </p:cNvSpPr>
          <p:nvPr/>
        </p:nvSpPr>
        <p:spPr>
          <a:xfrm>
            <a:off x="1752600" y="2676525"/>
            <a:ext cx="171450" cy="19050"/>
          </a:xfrm>
          <a:prstGeom prst="rect">
            <a:avLst/>
          </a:prstGeom>
          <a:solidFill>
            <a:srgbClr val="BDB3A7"/>
          </a:solidFill>
          <a:ln w="0">
            <a:solidFill>
              <a:srgbClr val="BDB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58EE7F-0BEC-4F42-9D9C-6CC127B50CC2}"/>
              </a:ext>
            </a:extLst>
          </p:cNvPr>
          <p:cNvSpPr>
            <a:spLocks noGrp="1"/>
          </p:cNvSpPr>
          <p:nvPr/>
        </p:nvSpPr>
        <p:spPr>
          <a:xfrm>
            <a:off x="1905000" y="2638425"/>
            <a:ext cx="19050" cy="95250"/>
          </a:xfrm>
          <a:prstGeom prst="rect">
            <a:avLst/>
          </a:prstGeom>
          <a:solidFill>
            <a:srgbClr val="BDB3A7"/>
          </a:solidFill>
          <a:ln w="0">
            <a:solidFill>
              <a:srgbClr val="BDB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8849F-9514-43FF-A0E4-A17316AC78B4}"/>
              </a:ext>
            </a:extLst>
          </p:cNvPr>
          <p:cNvSpPr>
            <a:spLocks noGrp="1"/>
          </p:cNvSpPr>
          <p:nvPr/>
        </p:nvSpPr>
        <p:spPr>
          <a:xfrm>
            <a:off x="1847850" y="2247900"/>
            <a:ext cx="1257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939E7B-420E-439E-ADE3-14AF9A9602EF}"/>
              </a:ext>
            </a:extLst>
          </p:cNvPr>
          <p:cNvSpPr>
            <a:spLocks noGrp="1"/>
          </p:cNvSpPr>
          <p:nvPr/>
        </p:nvSpPr>
        <p:spPr>
          <a:xfrm>
            <a:off x="1847850" y="2247900"/>
            <a:ext cx="1257300" cy="4762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A56E9D-69F7-4BAA-B841-EC70C78D9900}"/>
              </a:ext>
            </a:extLst>
          </p:cNvPr>
          <p:cNvSpPr>
            <a:spLocks noGrp="1"/>
          </p:cNvSpPr>
          <p:nvPr/>
        </p:nvSpPr>
        <p:spPr>
          <a:xfrm>
            <a:off x="1990725" y="2400300"/>
            <a:ext cx="971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Advisor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C1983D-41F9-429E-ACDA-632A0D62EBB1}"/>
              </a:ext>
            </a:extLst>
          </p:cNvPr>
          <p:cNvSpPr>
            <a:spLocks noGrp="1"/>
          </p:cNvSpPr>
          <p:nvPr/>
        </p:nvSpPr>
        <p:spPr>
          <a:xfrm>
            <a:off x="1990725" y="2676525"/>
            <a:ext cx="9715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strategy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attack plans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8DAB59-D1E9-4778-BF9A-847460C1808B}"/>
              </a:ext>
            </a:extLst>
          </p:cNvPr>
          <p:cNvSpPr>
            <a:spLocks noGrp="1"/>
          </p:cNvSpPr>
          <p:nvPr/>
        </p:nvSpPr>
        <p:spPr>
          <a:xfrm>
            <a:off x="3162300" y="2676525"/>
            <a:ext cx="171450" cy="19050"/>
          </a:xfrm>
          <a:prstGeom prst="rect">
            <a:avLst/>
          </a:prstGeom>
          <a:solidFill>
            <a:srgbClr val="BDB3A7"/>
          </a:solidFill>
          <a:ln w="0">
            <a:solidFill>
              <a:srgbClr val="BDB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47E0D3-D545-4009-918B-C87D6EA62F28}"/>
              </a:ext>
            </a:extLst>
          </p:cNvPr>
          <p:cNvSpPr>
            <a:spLocks noGrp="1"/>
          </p:cNvSpPr>
          <p:nvPr/>
        </p:nvSpPr>
        <p:spPr>
          <a:xfrm>
            <a:off x="3314700" y="2638425"/>
            <a:ext cx="19050" cy="95250"/>
          </a:xfrm>
          <a:prstGeom prst="rect">
            <a:avLst/>
          </a:prstGeom>
          <a:solidFill>
            <a:srgbClr val="BDB3A7"/>
          </a:solidFill>
          <a:ln w="0">
            <a:solidFill>
              <a:srgbClr val="BDB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81C8FF-D978-42F7-800C-3EEDBFD7BA7C}"/>
              </a:ext>
            </a:extLst>
          </p:cNvPr>
          <p:cNvSpPr>
            <a:spLocks noGrp="1"/>
          </p:cNvSpPr>
          <p:nvPr/>
        </p:nvSpPr>
        <p:spPr>
          <a:xfrm>
            <a:off x="3257550" y="2247900"/>
            <a:ext cx="1257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5D35C9-F12B-4172-AA11-5A7F26B66237}"/>
              </a:ext>
            </a:extLst>
          </p:cNvPr>
          <p:cNvSpPr>
            <a:spLocks noGrp="1"/>
          </p:cNvSpPr>
          <p:nvPr/>
        </p:nvSpPr>
        <p:spPr>
          <a:xfrm>
            <a:off x="3257550" y="2247900"/>
            <a:ext cx="1257300" cy="4762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216A21-4EA8-4083-835F-BE6461576C11}"/>
              </a:ext>
            </a:extLst>
          </p:cNvPr>
          <p:cNvSpPr>
            <a:spLocks noGrp="1"/>
          </p:cNvSpPr>
          <p:nvPr/>
        </p:nvSpPr>
        <p:spPr>
          <a:xfrm>
            <a:off x="3400425" y="2400300"/>
            <a:ext cx="971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Librarian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A2605A-4B97-4FD7-A8BD-31E6C2879BFD}"/>
              </a:ext>
            </a:extLst>
          </p:cNvPr>
          <p:cNvSpPr>
            <a:spLocks noGrp="1"/>
          </p:cNvSpPr>
          <p:nvPr/>
        </p:nvSpPr>
        <p:spPr>
          <a:xfrm>
            <a:off x="3400425" y="2676525"/>
            <a:ext cx="9715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gates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pruning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28F01D-4C85-442E-AC91-BE3E7B5E98C9}"/>
              </a:ext>
            </a:extLst>
          </p:cNvPr>
          <p:cNvSpPr>
            <a:spLocks noGrp="1"/>
          </p:cNvSpPr>
          <p:nvPr/>
        </p:nvSpPr>
        <p:spPr>
          <a:xfrm>
            <a:off x="4572000" y="2676525"/>
            <a:ext cx="171450" cy="19050"/>
          </a:xfrm>
          <a:prstGeom prst="rect">
            <a:avLst/>
          </a:prstGeom>
          <a:solidFill>
            <a:srgbClr val="BDB3A7"/>
          </a:solidFill>
          <a:ln w="0">
            <a:solidFill>
              <a:srgbClr val="BDB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DCBFBA-1F9C-491D-B904-CC259E17ECC4}"/>
              </a:ext>
            </a:extLst>
          </p:cNvPr>
          <p:cNvSpPr>
            <a:spLocks noGrp="1"/>
          </p:cNvSpPr>
          <p:nvPr/>
        </p:nvSpPr>
        <p:spPr>
          <a:xfrm>
            <a:off x="4724400" y="2638425"/>
            <a:ext cx="19050" cy="95250"/>
          </a:xfrm>
          <a:prstGeom prst="rect">
            <a:avLst/>
          </a:prstGeom>
          <a:solidFill>
            <a:srgbClr val="BDB3A7"/>
          </a:solidFill>
          <a:ln w="0">
            <a:solidFill>
              <a:srgbClr val="BDB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97D41F-2B8C-488F-B32D-2D13BB5E7C6B}"/>
              </a:ext>
            </a:extLst>
          </p:cNvPr>
          <p:cNvSpPr>
            <a:spLocks noGrp="1"/>
          </p:cNvSpPr>
          <p:nvPr/>
        </p:nvSpPr>
        <p:spPr>
          <a:xfrm>
            <a:off x="4481512" y="3838575"/>
            <a:ext cx="1257300" cy="809625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F49C19-A00B-4F14-BE03-670C9B2B0835}"/>
              </a:ext>
            </a:extLst>
          </p:cNvPr>
          <p:cNvSpPr>
            <a:spLocks noGrp="1"/>
          </p:cNvSpPr>
          <p:nvPr/>
        </p:nvSpPr>
        <p:spPr>
          <a:xfrm>
            <a:off x="4481512" y="3838575"/>
            <a:ext cx="1257300" cy="45719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6CAF72-70BA-4F8E-B5BB-ED9862728C72}"/>
              </a:ext>
            </a:extLst>
          </p:cNvPr>
          <p:cNvSpPr>
            <a:spLocks noGrp="1"/>
          </p:cNvSpPr>
          <p:nvPr/>
        </p:nvSpPr>
        <p:spPr>
          <a:xfrm>
            <a:off x="4624387" y="3990975"/>
            <a:ext cx="971550" cy="22000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 dirty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80CA79-FCF1-4D22-8718-E6B0ABCD385B}"/>
              </a:ext>
            </a:extLst>
          </p:cNvPr>
          <p:cNvSpPr>
            <a:spLocks noGrp="1"/>
          </p:cNvSpPr>
          <p:nvPr/>
        </p:nvSpPr>
        <p:spPr>
          <a:xfrm>
            <a:off x="4624387" y="4267201"/>
            <a:ext cx="971550" cy="2552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proof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E4D26D-28B4-42A0-9E6E-FD664A63BDE2}"/>
              </a:ext>
            </a:extLst>
          </p:cNvPr>
          <p:cNvSpPr>
            <a:spLocks noGrp="1"/>
          </p:cNvSpPr>
          <p:nvPr/>
        </p:nvSpPr>
        <p:spPr>
          <a:xfrm>
            <a:off x="8953500" y="2638425"/>
            <a:ext cx="19050" cy="95250"/>
          </a:xfrm>
          <a:prstGeom prst="rect">
            <a:avLst/>
          </a:prstGeom>
          <a:solidFill>
            <a:srgbClr val="BDB3A7"/>
          </a:solidFill>
          <a:ln w="0">
            <a:solidFill>
              <a:srgbClr val="BDB3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A5287FD-4774-469E-AB08-17CF3D855A17}"/>
              </a:ext>
            </a:extLst>
          </p:cNvPr>
          <p:cNvSpPr>
            <a:spLocks noGrp="1"/>
          </p:cNvSpPr>
          <p:nvPr/>
        </p:nvSpPr>
        <p:spPr>
          <a:xfrm>
            <a:off x="4758288" y="2247900"/>
            <a:ext cx="1257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4AF0E3-5A84-481B-B1A6-4EE2F3B1AEDF}"/>
              </a:ext>
            </a:extLst>
          </p:cNvPr>
          <p:cNvSpPr>
            <a:spLocks noGrp="1"/>
          </p:cNvSpPr>
          <p:nvPr/>
        </p:nvSpPr>
        <p:spPr>
          <a:xfrm>
            <a:off x="4758288" y="2247900"/>
            <a:ext cx="1257300" cy="4762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C1E0BF-7394-4AC5-BD47-69A4A59D46AC}"/>
              </a:ext>
            </a:extLst>
          </p:cNvPr>
          <p:cNvSpPr>
            <a:spLocks noGrp="1"/>
          </p:cNvSpPr>
          <p:nvPr/>
        </p:nvSpPr>
        <p:spPr>
          <a:xfrm>
            <a:off x="4901163" y="2400300"/>
            <a:ext cx="971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Theory Graph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2ABA0BF-3F7B-4720-A1CD-1BB5E3FD1B3F}"/>
              </a:ext>
            </a:extLst>
          </p:cNvPr>
          <p:cNvSpPr>
            <a:spLocks noGrp="1"/>
          </p:cNvSpPr>
          <p:nvPr/>
        </p:nvSpPr>
        <p:spPr>
          <a:xfrm>
            <a:off x="4901163" y="2676525"/>
            <a:ext cx="9715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true / open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D29305-688F-485B-A2C7-4AC20EE0D4D6}"/>
              </a:ext>
            </a:extLst>
          </p:cNvPr>
          <p:cNvSpPr>
            <a:spLocks noGrp="1"/>
          </p:cNvSpPr>
          <p:nvPr/>
        </p:nvSpPr>
        <p:spPr>
          <a:xfrm>
            <a:off x="2724150" y="3848100"/>
            <a:ext cx="16002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F1E6CA0-D05D-4A49-9168-BFD571BB2EF8}"/>
              </a:ext>
            </a:extLst>
          </p:cNvPr>
          <p:cNvSpPr>
            <a:spLocks noGrp="1"/>
          </p:cNvSpPr>
          <p:nvPr/>
        </p:nvSpPr>
        <p:spPr>
          <a:xfrm>
            <a:off x="2724150" y="3848100"/>
            <a:ext cx="1600200" cy="4762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EE29A01-C968-4039-AACD-70318D77BD45}"/>
              </a:ext>
            </a:extLst>
          </p:cNvPr>
          <p:cNvSpPr>
            <a:spLocks noGrp="1"/>
          </p:cNvSpPr>
          <p:nvPr/>
        </p:nvSpPr>
        <p:spPr>
          <a:xfrm>
            <a:off x="2867025" y="4000500"/>
            <a:ext cx="13144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Scout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12ABAB7-8565-4806-AB87-9D9298F909A0}"/>
              </a:ext>
            </a:extLst>
          </p:cNvPr>
          <p:cNvSpPr>
            <a:spLocks noGrp="1"/>
          </p:cNvSpPr>
          <p:nvPr/>
        </p:nvSpPr>
        <p:spPr>
          <a:xfrm>
            <a:off x="2867025" y="4276725"/>
            <a:ext cx="1314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source status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forage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617662-041C-4ED5-8D63-9CFC4F2F3D56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6002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C8B3FAB-8EE5-4305-983E-1C46AB043457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600200" cy="4762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2143C37-8540-4254-AC7C-876D64FDA21F}"/>
              </a:ext>
            </a:extLst>
          </p:cNvPr>
          <p:cNvSpPr>
            <a:spLocks noGrp="1"/>
          </p:cNvSpPr>
          <p:nvPr/>
        </p:nvSpPr>
        <p:spPr>
          <a:xfrm>
            <a:off x="828675" y="4000500"/>
            <a:ext cx="13144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Stager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6A4A0B2-7C79-43F0-88D4-47B1B7C865DC}"/>
              </a:ext>
            </a:extLst>
          </p:cNvPr>
          <p:cNvSpPr>
            <a:spLocks noGrp="1"/>
          </p:cNvSpPr>
          <p:nvPr/>
        </p:nvSpPr>
        <p:spPr>
          <a:xfrm>
            <a:off x="828675" y="4276725"/>
            <a:ext cx="13144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user-invoked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export only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9699BB1-65A7-478E-9B7C-1A8AB9AEBA88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2095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672A193-ECF7-424A-B233-5003C5D58D22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2095500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BF382F1-2FF4-4DBF-9B93-E39BF48BCA11}"/>
              </a:ext>
            </a:extLst>
          </p:cNvPr>
          <p:cNvSpPr>
            <a:spLocks noGrp="1"/>
          </p:cNvSpPr>
          <p:nvPr/>
        </p:nvSpPr>
        <p:spPr>
          <a:xfrm>
            <a:off x="828675" y="5334000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Public artifacts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37BFE0E-789B-4D43-9890-730E3EE0315B}"/>
              </a:ext>
            </a:extLst>
          </p:cNvPr>
          <p:cNvSpPr>
            <a:spLocks noGrp="1"/>
          </p:cNvSpPr>
          <p:nvPr/>
        </p:nvSpPr>
        <p:spPr>
          <a:xfrm>
            <a:off x="828675" y="5610225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PDF, repo,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Gmail drafts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D5F5123-1BBF-49CD-B94A-6B093A70BDB2}"/>
              </a:ext>
            </a:extLst>
          </p:cNvPr>
          <p:cNvSpPr>
            <a:spLocks noGrp="1"/>
          </p:cNvSpPr>
          <p:nvPr/>
        </p:nvSpPr>
        <p:spPr>
          <a:xfrm>
            <a:off x="6415638" y="2590800"/>
            <a:ext cx="4133715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Advisor and Student own real goals. Librarian owns truth. </a:t>
            </a:r>
            <a:endParaRPr lang="en-US" sz="1650" b="1" dirty="0">
              <a:solidFill>
                <a:srgbClr val="111820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endParaRPr lang="en-US" sz="1650" b="1" dirty="0">
              <a:solidFill>
                <a:srgbClr val="111820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Scout and Oracle supply raw material. </a:t>
            </a:r>
            <a:endParaRPr lang="en-US" sz="1650" b="1" dirty="0">
              <a:solidFill>
                <a:srgbClr val="111820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endParaRPr lang="en-US" sz="1650" b="1" dirty="0">
              <a:solidFill>
                <a:srgbClr val="111820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0"/>
                </a:solidFill>
                <a:latin typeface="Aptos"/>
                <a:ea typeface="Aptos"/>
                <a:cs typeface="Aptos"/>
              </a:rPr>
              <a:t>Stager publishes only on request.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9269DEB-8331-447C-9440-40DF604A0713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Figure: actual Pudim handoff order and bounded connector lanes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5BB8EE1-C3E8-4DF9-86C2-86A3A64CFC58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690F9EF-3E6A-4B2C-4C4F-6C887536C7D7}"/>
              </a:ext>
            </a:extLst>
          </p:cNvPr>
          <p:cNvCxnSpPr>
            <a:cxnSpLocks/>
            <a:stCxn id="5" idx="2"/>
            <a:endCxn id="59" idx="0"/>
          </p:cNvCxnSpPr>
          <p:nvPr/>
        </p:nvCxnSpPr>
        <p:spPr>
          <a:xfrm>
            <a:off x="1066800" y="3124200"/>
            <a:ext cx="419100" cy="72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58E4620-0868-0F62-794B-27DDCF6F7C74}"/>
              </a:ext>
            </a:extLst>
          </p:cNvPr>
          <p:cNvCxnSpPr/>
          <p:nvPr/>
        </p:nvCxnSpPr>
        <p:spPr>
          <a:xfrm>
            <a:off x="2516134" y="3124200"/>
            <a:ext cx="884291" cy="7239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3A5913A-85F4-14E6-AFAF-EBC9B11CEF28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2566988" y="3133725"/>
            <a:ext cx="2543174" cy="7048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103EB573-02F1-D527-4342-6112C63CEDB3}"/>
              </a:ext>
            </a:extLst>
          </p:cNvPr>
          <p:cNvSpPr>
            <a:spLocks noGrp="1"/>
          </p:cNvSpPr>
          <p:nvPr/>
        </p:nvSpPr>
        <p:spPr>
          <a:xfrm>
            <a:off x="4138612" y="4985809"/>
            <a:ext cx="9715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 dirty="0">
                <a:solidFill>
                  <a:srgbClr val="111820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9DE59B6-6DD9-A3B4-DDDF-2AC5980CC818}"/>
              </a:ext>
            </a:extLst>
          </p:cNvPr>
          <p:cNvSpPr>
            <a:spLocks noGrp="1"/>
          </p:cNvSpPr>
          <p:nvPr/>
        </p:nvSpPr>
        <p:spPr>
          <a:xfrm>
            <a:off x="4138612" y="5262034"/>
            <a:ext cx="9715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 dirty="0">
                <a:solidFill>
                  <a:srgbClr val="5E6670"/>
                </a:solidFill>
                <a:latin typeface="Aptos"/>
                <a:ea typeface="Aptos"/>
                <a:cs typeface="Aptos"/>
              </a:rPr>
              <a:t>@steipete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 dirty="0">
                <a:solidFill>
                  <a:srgbClr val="5E6670"/>
                </a:solidFill>
                <a:latin typeface="Aptos"/>
                <a:ea typeface="Aptos"/>
                <a:cs typeface="Aptos"/>
              </a:rPr>
              <a:t>raw advice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CD8CD65-C3E2-9ED1-C86C-601D1EEF7375}"/>
              </a:ext>
            </a:extLst>
          </p:cNvPr>
          <p:cNvCxnSpPr>
            <a:cxnSpLocks/>
            <a:endCxn id="64" idx="2"/>
          </p:cNvCxnSpPr>
          <p:nvPr/>
        </p:nvCxnSpPr>
        <p:spPr>
          <a:xfrm>
            <a:off x="1328130" y="4657725"/>
            <a:ext cx="405420" cy="5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ight Brace 87">
            <a:extLst>
              <a:ext uri="{FF2B5EF4-FFF2-40B4-BE49-F238E27FC236}">
                <a16:creationId xmlns:a16="http://schemas.microsoft.com/office/drawing/2014/main" id="{E56C3043-0A70-1638-CC93-98AA80992D82}"/>
              </a:ext>
            </a:extLst>
          </p:cNvPr>
          <p:cNvSpPr/>
          <p:nvPr/>
        </p:nvSpPr>
        <p:spPr>
          <a:xfrm rot="5400000">
            <a:off x="4356934" y="4329291"/>
            <a:ext cx="105350" cy="10468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38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F4D03D0-FD35-4937-9355-389599EDD0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152267B-A03B-418B-BB88-9FEEB95096EB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BA586AE-CFDF-4F18-9814-433338A2E69D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MAIN 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05E328-17DA-4440-B46C-DC7468614C1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Wiki stores memory. Theory stores truth.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E9CF8D-BF4D-46C5-A76A-B7F75AD3771D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47625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EF245-4B77-45BA-B8CA-1FC680222308}"/>
              </a:ext>
            </a:extLst>
          </p:cNvPr>
          <p:cNvSpPr>
            <a:spLocks noGrp="1"/>
          </p:cNvSpPr>
          <p:nvPr/>
        </p:nvSpPr>
        <p:spPr>
          <a:xfrm>
            <a:off x="6705600" y="1790700"/>
            <a:ext cx="47625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68D30-C5B1-4D68-B211-938D9B4E8500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Wiki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E4B11-AD12-44A8-BCC3-64FFFCB73615}"/>
              </a:ext>
            </a:extLst>
          </p:cNvPr>
          <p:cNvSpPr>
            <a:spLocks noGrp="1"/>
          </p:cNvSpPr>
          <p:nvPr/>
        </p:nvSpPr>
        <p:spPr>
          <a:xfrm>
            <a:off x="1085850" y="2828925"/>
            <a:ext cx="66675" cy="6667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620AB2-C7EB-4FD8-A062-8011162CC0FF}"/>
              </a:ext>
            </a:extLst>
          </p:cNvPr>
          <p:cNvSpPr>
            <a:spLocks noGrp="1"/>
          </p:cNvSpPr>
          <p:nvPr/>
        </p:nvSpPr>
        <p:spPr>
          <a:xfrm>
            <a:off x="1295400" y="2743200"/>
            <a:ext cx="3409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definitions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534D7D-C50A-4ED0-B163-92F828BAEB41}"/>
              </a:ext>
            </a:extLst>
          </p:cNvPr>
          <p:cNvSpPr>
            <a:spLocks noGrp="1"/>
          </p:cNvSpPr>
          <p:nvPr/>
        </p:nvSpPr>
        <p:spPr>
          <a:xfrm>
            <a:off x="1085850" y="3209925"/>
            <a:ext cx="66675" cy="6667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D29BF-D8BD-420A-A375-CF744233DC35}"/>
              </a:ext>
            </a:extLst>
          </p:cNvPr>
          <p:cNvSpPr>
            <a:spLocks noGrp="1"/>
          </p:cNvSpPr>
          <p:nvPr/>
        </p:nvSpPr>
        <p:spPr>
          <a:xfrm>
            <a:off x="1295400" y="3124200"/>
            <a:ext cx="3409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source 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836F2-C0C2-48D1-80B8-975894A48410}"/>
              </a:ext>
            </a:extLst>
          </p:cNvPr>
          <p:cNvSpPr>
            <a:spLocks noGrp="1"/>
          </p:cNvSpPr>
          <p:nvPr/>
        </p:nvSpPr>
        <p:spPr>
          <a:xfrm>
            <a:off x="1085850" y="3590925"/>
            <a:ext cx="66675" cy="6667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C5B675-FAF9-4FE4-9AF3-7E0760E8CBF3}"/>
              </a:ext>
            </a:extLst>
          </p:cNvPr>
          <p:cNvSpPr>
            <a:spLocks noGrp="1"/>
          </p:cNvSpPr>
          <p:nvPr/>
        </p:nvSpPr>
        <p:spPr>
          <a:xfrm>
            <a:off x="1295400" y="3505200"/>
            <a:ext cx="3409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failed attempts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73AA9-AE77-4E25-B02B-0D1F15FF656E}"/>
              </a:ext>
            </a:extLst>
          </p:cNvPr>
          <p:cNvSpPr>
            <a:spLocks noGrp="1"/>
          </p:cNvSpPr>
          <p:nvPr/>
        </p:nvSpPr>
        <p:spPr>
          <a:xfrm>
            <a:off x="1085850" y="3971925"/>
            <a:ext cx="66675" cy="6667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6AAA6E-24FC-4C8C-8D56-0CE7745E1082}"/>
              </a:ext>
            </a:extLst>
          </p:cNvPr>
          <p:cNvSpPr>
            <a:spLocks noGrp="1"/>
          </p:cNvSpPr>
          <p:nvPr/>
        </p:nvSpPr>
        <p:spPr>
          <a:xfrm>
            <a:off x="1295400" y="3886200"/>
            <a:ext cx="3409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raw Oracle responses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662A9C-05EC-40AE-9E08-07F2C415E2CC}"/>
              </a:ext>
            </a:extLst>
          </p:cNvPr>
          <p:cNvSpPr>
            <a:spLocks noGrp="1"/>
          </p:cNvSpPr>
          <p:nvPr/>
        </p:nvSpPr>
        <p:spPr>
          <a:xfrm>
            <a:off x="1085850" y="4352925"/>
            <a:ext cx="66675" cy="6667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2EE760-1083-498C-A906-A37C49F08C25}"/>
              </a:ext>
            </a:extLst>
          </p:cNvPr>
          <p:cNvSpPr>
            <a:spLocks noGrp="1"/>
          </p:cNvSpPr>
          <p:nvPr/>
        </p:nvSpPr>
        <p:spPr>
          <a:xfrm>
            <a:off x="1295400" y="4267200"/>
            <a:ext cx="3409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proof logs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F3077-2CBE-4AC5-BFCC-0F176EE1D4DA}"/>
              </a:ext>
            </a:extLst>
          </p:cNvPr>
          <p:cNvSpPr>
            <a:spLocks noGrp="1"/>
          </p:cNvSpPr>
          <p:nvPr/>
        </p:nvSpPr>
        <p:spPr>
          <a:xfrm>
            <a:off x="7029450" y="2133600"/>
            <a:ext cx="2667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Theory graph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235E98-2CFB-4B09-961C-BD2D4AA13D2B}"/>
              </a:ext>
            </a:extLst>
          </p:cNvPr>
          <p:cNvSpPr>
            <a:spLocks noGrp="1"/>
          </p:cNvSpPr>
          <p:nvPr/>
        </p:nvSpPr>
        <p:spPr>
          <a:xfrm>
            <a:off x="7048500" y="2828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8632C2-1EDF-431D-AFE1-215DFCD905D2}"/>
              </a:ext>
            </a:extLst>
          </p:cNvPr>
          <p:cNvSpPr>
            <a:spLocks noGrp="1"/>
          </p:cNvSpPr>
          <p:nvPr/>
        </p:nvSpPr>
        <p:spPr>
          <a:xfrm>
            <a:off x="7258050" y="2743200"/>
            <a:ext cx="3695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statements only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77894-1B30-47DD-9331-CF25454EE059}"/>
              </a:ext>
            </a:extLst>
          </p:cNvPr>
          <p:cNvSpPr>
            <a:spLocks noGrp="1"/>
          </p:cNvSpPr>
          <p:nvPr/>
        </p:nvSpPr>
        <p:spPr>
          <a:xfrm>
            <a:off x="7048500" y="3209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65CD6A-414F-49AA-8151-6D38AD61575B}"/>
              </a:ext>
            </a:extLst>
          </p:cNvPr>
          <p:cNvSpPr>
            <a:spLocks noGrp="1"/>
          </p:cNvSpPr>
          <p:nvPr/>
        </p:nvSpPr>
        <p:spPr>
          <a:xfrm>
            <a:off x="7258050" y="3124200"/>
            <a:ext cx="3695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status is true or open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DE1FDF-9016-4A51-9404-FF6E5713201C}"/>
              </a:ext>
            </a:extLst>
          </p:cNvPr>
          <p:cNvSpPr>
            <a:spLocks noGrp="1"/>
          </p:cNvSpPr>
          <p:nvPr/>
        </p:nvSpPr>
        <p:spPr>
          <a:xfrm>
            <a:off x="7048500" y="3590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588E45-3551-4221-8503-670EDFADD0CA}"/>
              </a:ext>
            </a:extLst>
          </p:cNvPr>
          <p:cNvSpPr>
            <a:spLocks noGrp="1"/>
          </p:cNvSpPr>
          <p:nvPr/>
        </p:nvSpPr>
        <p:spPr>
          <a:xfrm>
            <a:off x="7258050" y="3505200"/>
            <a:ext cx="3695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no false status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0C90B9-230C-4E69-B2EB-224A9A4D8BE5}"/>
              </a:ext>
            </a:extLst>
          </p:cNvPr>
          <p:cNvSpPr>
            <a:spLocks noGrp="1"/>
          </p:cNvSpPr>
          <p:nvPr/>
        </p:nvSpPr>
        <p:spPr>
          <a:xfrm>
            <a:off x="7048500" y="3971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0C541C-50C4-4849-B97F-CBF7350A7AAD}"/>
              </a:ext>
            </a:extLst>
          </p:cNvPr>
          <p:cNvSpPr>
            <a:spLocks noGrp="1"/>
          </p:cNvSpPr>
          <p:nvPr/>
        </p:nvSpPr>
        <p:spPr>
          <a:xfrm>
            <a:off x="7258050" y="3886200"/>
            <a:ext cx="3695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truth propagates along edges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1177C9-16A0-4DAF-9DCC-69EDFEDE59B1}"/>
              </a:ext>
            </a:extLst>
          </p:cNvPr>
          <p:cNvSpPr>
            <a:spLocks noGrp="1"/>
          </p:cNvSpPr>
          <p:nvPr/>
        </p:nvSpPr>
        <p:spPr>
          <a:xfrm>
            <a:off x="7772400" y="4400550"/>
            <a:ext cx="11239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8C7E36-0191-41D8-85EB-EC93F92FC26F}"/>
              </a:ext>
            </a:extLst>
          </p:cNvPr>
          <p:cNvSpPr>
            <a:spLocks noGrp="1"/>
          </p:cNvSpPr>
          <p:nvPr/>
        </p:nvSpPr>
        <p:spPr>
          <a:xfrm>
            <a:off x="7772400" y="4400550"/>
            <a:ext cx="1123950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87C474-FA32-4EAD-8E25-109C03BF933B}"/>
              </a:ext>
            </a:extLst>
          </p:cNvPr>
          <p:cNvSpPr>
            <a:spLocks noGrp="1"/>
          </p:cNvSpPr>
          <p:nvPr/>
        </p:nvSpPr>
        <p:spPr>
          <a:xfrm>
            <a:off x="7915275" y="4552950"/>
            <a:ext cx="838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9981D2-7F03-43F9-8373-67A42E4938CE}"/>
              </a:ext>
            </a:extLst>
          </p:cNvPr>
          <p:cNvSpPr>
            <a:spLocks noGrp="1"/>
          </p:cNvSpPr>
          <p:nvPr/>
        </p:nvSpPr>
        <p:spPr>
          <a:xfrm>
            <a:off x="7915275" y="48291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B81B62-4E23-46E5-96C4-AEECFBAC9A07}"/>
              </a:ext>
            </a:extLst>
          </p:cNvPr>
          <p:cNvSpPr>
            <a:spLocks noGrp="1"/>
          </p:cNvSpPr>
          <p:nvPr/>
        </p:nvSpPr>
        <p:spPr>
          <a:xfrm>
            <a:off x="8953500" y="4552950"/>
            <a:ext cx="323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F13EBB-8185-4FEB-90A9-F562F99CB07B}"/>
              </a:ext>
            </a:extLst>
          </p:cNvPr>
          <p:cNvSpPr>
            <a:spLocks noGrp="1"/>
          </p:cNvSpPr>
          <p:nvPr/>
        </p:nvSpPr>
        <p:spPr>
          <a:xfrm>
            <a:off x="9353550" y="4400550"/>
            <a:ext cx="11239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C76CBC-415F-43F5-B566-38676487BBE8}"/>
              </a:ext>
            </a:extLst>
          </p:cNvPr>
          <p:cNvSpPr>
            <a:spLocks noGrp="1"/>
          </p:cNvSpPr>
          <p:nvPr/>
        </p:nvSpPr>
        <p:spPr>
          <a:xfrm>
            <a:off x="9353550" y="4400550"/>
            <a:ext cx="1123950" cy="4762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EEFBFA-0CAC-4B86-B5D5-720377A2B92B}"/>
              </a:ext>
            </a:extLst>
          </p:cNvPr>
          <p:cNvSpPr>
            <a:spLocks noGrp="1"/>
          </p:cNvSpPr>
          <p:nvPr/>
        </p:nvSpPr>
        <p:spPr>
          <a:xfrm>
            <a:off x="9496425" y="4552950"/>
            <a:ext cx="838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B0F50E-1C2A-46FD-B950-5BBD5304B968}"/>
              </a:ext>
            </a:extLst>
          </p:cNvPr>
          <p:cNvSpPr>
            <a:spLocks noGrp="1"/>
          </p:cNvSpPr>
          <p:nvPr/>
        </p:nvSpPr>
        <p:spPr>
          <a:xfrm>
            <a:off x="9496425" y="48291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6D0BB6-820E-404F-8C9E-9E4B243B0FDC}"/>
              </a:ext>
            </a:extLst>
          </p:cNvPr>
          <p:cNvSpPr>
            <a:spLocks noGrp="1"/>
          </p:cNvSpPr>
          <p:nvPr/>
        </p:nvSpPr>
        <p:spPr>
          <a:xfrm>
            <a:off x="1028700" y="565785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35D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35D4F"/>
                </a:solidFill>
                <a:latin typeface="Aptos Mono"/>
                <a:ea typeface="Aptos Mono"/>
                <a:cs typeface="Aptos Mono"/>
              </a:rPr>
              <a:t>not(P) is a true negation, not a false node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1972EB-7DC5-4C07-9CFF-3CBB102BF959}"/>
              </a:ext>
            </a:extLst>
          </p:cNvPr>
          <p:cNvSpPr>
            <a:spLocks noGrp="1"/>
          </p:cNvSpPr>
          <p:nvPr/>
        </p:nvSpPr>
        <p:spPr>
          <a:xfrm>
            <a:off x="7067550" y="5657850"/>
            <a:ext cx="4000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Keep messy research memory rich; keep canonical truth sparse.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2E8348-6E32-458C-847B-974473F0862B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Wiki/Theory spec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FB8042-0416-4C9F-AB43-1C19848112D8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4893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2641A4B-14E4-4374-A2D7-A67AE531E1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36D77F0-4D60-4087-9671-8A1DC00E2694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4216863-F248-4C52-9DA6-E69EEC0BD42E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384EC-E6CB-4FEF-B24C-35DE2739533D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144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@steipete/oracle is the ChatGPT transport, not the judge.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10D65-1049-4824-8D6D-E67605003C8A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809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B377A-AF2D-4B63-AC2A-BBF85A33227B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809750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AD6FD0-AD73-4914-A941-C8CC54FD9834}"/>
              </a:ext>
            </a:extLst>
          </p:cNvPr>
          <p:cNvSpPr>
            <a:spLocks noGrp="1"/>
          </p:cNvSpPr>
          <p:nvPr/>
        </p:nvSpPr>
        <p:spPr>
          <a:xfrm>
            <a:off x="828675" y="2495550"/>
            <a:ext cx="152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Request 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0A31B8-0BE0-433B-A897-71C92FA7DB8E}"/>
              </a:ext>
            </a:extLst>
          </p:cNvPr>
          <p:cNvSpPr>
            <a:spLocks noGrp="1"/>
          </p:cNvSpPr>
          <p:nvPr/>
        </p:nvSpPr>
        <p:spPr>
          <a:xfrm>
            <a:off x="828675" y="2771775"/>
            <a:ext cx="15240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self-contained context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owned by caller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4DD77-7AC3-42D1-BC9E-B9109F3C57FF}"/>
              </a:ext>
            </a:extLst>
          </p:cNvPr>
          <p:cNvSpPr>
            <a:spLocks noGrp="1"/>
          </p:cNvSpPr>
          <p:nvPr/>
        </p:nvSpPr>
        <p:spPr>
          <a:xfrm>
            <a:off x="2609850" y="27241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49FEA1-6153-4A00-BE7D-5820980360B9}"/>
              </a:ext>
            </a:extLst>
          </p:cNvPr>
          <p:cNvSpPr>
            <a:spLocks noGrp="1"/>
          </p:cNvSpPr>
          <p:nvPr/>
        </p:nvSpPr>
        <p:spPr>
          <a:xfrm>
            <a:off x="3086100" y="2114550"/>
            <a:ext cx="2381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F33B7D-6ABE-494D-8147-3F414BB9D7EC}"/>
              </a:ext>
            </a:extLst>
          </p:cNvPr>
          <p:cNvSpPr>
            <a:spLocks noGrp="1"/>
          </p:cNvSpPr>
          <p:nvPr/>
        </p:nvSpPr>
        <p:spPr>
          <a:xfrm>
            <a:off x="3086100" y="2114550"/>
            <a:ext cx="2381250" cy="47625"/>
          </a:xfrm>
          <a:prstGeom prst="rect">
            <a:avLst/>
          </a:prstGeom>
          <a:solidFill>
            <a:srgbClr val="7D6FD8"/>
          </a:solidFill>
          <a:ln w="0">
            <a:solidFill>
              <a:srgbClr val="7D6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32F4B-EACE-452C-8255-74F425D41B13}"/>
              </a:ext>
            </a:extLst>
          </p:cNvPr>
          <p:cNvSpPr>
            <a:spLocks noGrp="1"/>
          </p:cNvSpPr>
          <p:nvPr/>
        </p:nvSpPr>
        <p:spPr>
          <a:xfrm>
            <a:off x="3228975" y="22669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@steipete/oracle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D73A65-C0B9-411C-8870-BBED672F9F1A}"/>
              </a:ext>
            </a:extLst>
          </p:cNvPr>
          <p:cNvSpPr>
            <a:spLocks noGrp="1"/>
          </p:cNvSpPr>
          <p:nvPr/>
        </p:nvSpPr>
        <p:spPr>
          <a:xfrm>
            <a:off x="3228975" y="2543175"/>
            <a:ext cx="2095500" cy="923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browser-mode ChatGPT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user account/model settings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1219D-5AC3-47EB-A931-09138F1C94B8}"/>
              </a:ext>
            </a:extLst>
          </p:cNvPr>
          <p:cNvSpPr>
            <a:spLocks noGrp="1"/>
          </p:cNvSpPr>
          <p:nvPr/>
        </p:nvSpPr>
        <p:spPr>
          <a:xfrm>
            <a:off x="5581650" y="27241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4C6924-F7A8-4F74-A170-D1630A457D8D}"/>
              </a:ext>
            </a:extLst>
          </p:cNvPr>
          <p:cNvSpPr>
            <a:spLocks noGrp="1"/>
          </p:cNvSpPr>
          <p:nvPr/>
        </p:nvSpPr>
        <p:spPr>
          <a:xfrm>
            <a:off x="6057900" y="2343150"/>
            <a:ext cx="2000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BE29F9-C78C-4DC9-955B-3C0FE95B58BA}"/>
              </a:ext>
            </a:extLst>
          </p:cNvPr>
          <p:cNvSpPr>
            <a:spLocks noGrp="1"/>
          </p:cNvSpPr>
          <p:nvPr/>
        </p:nvSpPr>
        <p:spPr>
          <a:xfrm>
            <a:off x="6057900" y="2343150"/>
            <a:ext cx="2000250" cy="4762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E4618D-03B1-4F7F-A292-E699770FDF9F}"/>
              </a:ext>
            </a:extLst>
          </p:cNvPr>
          <p:cNvSpPr>
            <a:spLocks noGrp="1"/>
          </p:cNvSpPr>
          <p:nvPr/>
        </p:nvSpPr>
        <p:spPr>
          <a:xfrm>
            <a:off x="6200775" y="2495550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Raw response + logs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B2990-C4B5-4E90-802D-E515A14EA04C}"/>
              </a:ext>
            </a:extLst>
          </p:cNvPr>
          <p:cNvSpPr>
            <a:spLocks noGrp="1"/>
          </p:cNvSpPr>
          <p:nvPr/>
        </p:nvSpPr>
        <p:spPr>
          <a:xfrm>
            <a:off x="6200775" y="2771775"/>
            <a:ext cx="17145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advice, blockers,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command trace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1A750-F2BF-474F-BF64-B80C66BBC4C6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256BDB-8554-4D63-B6D3-3746344F4890}"/>
              </a:ext>
            </a:extLst>
          </p:cNvPr>
          <p:cNvSpPr>
            <a:spLocks noGrp="1"/>
          </p:cNvSpPr>
          <p:nvPr/>
        </p:nvSpPr>
        <p:spPr>
          <a:xfrm>
            <a:off x="8648700" y="2114550"/>
            <a:ext cx="21907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7829AB-1FED-40CE-BD92-4CAC53F36DC9}"/>
              </a:ext>
            </a:extLst>
          </p:cNvPr>
          <p:cNvSpPr>
            <a:spLocks noGrp="1"/>
          </p:cNvSpPr>
          <p:nvPr/>
        </p:nvSpPr>
        <p:spPr>
          <a:xfrm>
            <a:off x="8648700" y="2114550"/>
            <a:ext cx="2190750" cy="4762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7CB0A4-F921-4AF3-AF20-17FC40A5E743}"/>
              </a:ext>
            </a:extLst>
          </p:cNvPr>
          <p:cNvSpPr>
            <a:spLocks noGrp="1"/>
          </p:cNvSpPr>
          <p:nvPr/>
        </p:nvSpPr>
        <p:spPr>
          <a:xfrm>
            <a:off x="8791575" y="2266950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Local audit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458595-6643-4334-9E85-297B74524800}"/>
              </a:ext>
            </a:extLst>
          </p:cNvPr>
          <p:cNvSpPr>
            <a:spLocks noGrp="1"/>
          </p:cNvSpPr>
          <p:nvPr/>
        </p:nvSpPr>
        <p:spPr>
          <a:xfrm>
            <a:off x="8791575" y="2543175"/>
            <a:ext cx="1905000" cy="923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Student + Librarian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certify or reject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8A71F9-2AB6-4466-AA9B-55AB99CB5720}"/>
              </a:ext>
            </a:extLst>
          </p:cNvPr>
          <p:cNvSpPr>
            <a:spLocks noGrp="1"/>
          </p:cNvSpPr>
          <p:nvPr/>
        </p:nvSpPr>
        <p:spPr>
          <a:xfrm>
            <a:off x="895350" y="4038600"/>
            <a:ext cx="752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D6FD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D6FD8"/>
                </a:solidFill>
                <a:latin typeface="Aptos Mono"/>
                <a:ea typeface="Aptos Mono"/>
                <a:cs typeface="Aptos Mono"/>
              </a:rPr>
              <a:t>python pudimv2_tool.py oracle-student --root .pudim --run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3A7C6D-ABC0-452C-9041-3FC040804F40}"/>
              </a:ext>
            </a:extLst>
          </p:cNvPr>
          <p:cNvSpPr>
            <a:spLocks noGrp="1"/>
          </p:cNvSpPr>
          <p:nvPr/>
        </p:nvSpPr>
        <p:spPr>
          <a:xfrm>
            <a:off x="895350" y="4533900"/>
            <a:ext cx="4762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D042AF-D056-43F8-B4D8-B21689C7FF65}"/>
              </a:ext>
            </a:extLst>
          </p:cNvPr>
          <p:cNvSpPr>
            <a:spLocks noGrp="1"/>
          </p:cNvSpPr>
          <p:nvPr/>
        </p:nvSpPr>
        <p:spPr>
          <a:xfrm>
            <a:off x="1162050" y="47625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  <a:t>Allowed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D28A27-8E6F-4236-BC2E-CC1089E5B055}"/>
              </a:ext>
            </a:extLst>
          </p:cNvPr>
          <p:cNvSpPr>
            <a:spLocks noGrp="1"/>
          </p:cNvSpPr>
          <p:nvPr/>
        </p:nvSpPr>
        <p:spPr>
          <a:xfrm>
            <a:off x="1181100" y="51911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85C7DF-941E-4655-843A-2E75B8FFAEF1}"/>
              </a:ext>
            </a:extLst>
          </p:cNvPr>
          <p:cNvSpPr>
            <a:spLocks noGrp="1"/>
          </p:cNvSpPr>
          <p:nvPr/>
        </p:nvSpPr>
        <p:spPr>
          <a:xfrm>
            <a:off x="1390650" y="5105400"/>
            <a:ext cx="3219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suggest proof routes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FCB72B-800F-4317-9D98-BCD4D367383A}"/>
              </a:ext>
            </a:extLst>
          </p:cNvPr>
          <p:cNvSpPr>
            <a:spLocks noGrp="1"/>
          </p:cNvSpPr>
          <p:nvPr/>
        </p:nvSpPr>
        <p:spPr>
          <a:xfrm>
            <a:off x="1181100" y="54197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2D41A1-75A7-4166-A53B-070285BB1CD5}"/>
              </a:ext>
            </a:extLst>
          </p:cNvPr>
          <p:cNvSpPr>
            <a:spLocks noGrp="1"/>
          </p:cNvSpPr>
          <p:nvPr/>
        </p:nvSpPr>
        <p:spPr>
          <a:xfrm>
            <a:off x="1390650" y="5334000"/>
            <a:ext cx="3219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surface obstructions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FC3C6C-5C19-4D58-A9C8-7C3D2FB6C8F2}"/>
              </a:ext>
            </a:extLst>
          </p:cNvPr>
          <p:cNvSpPr>
            <a:spLocks noGrp="1"/>
          </p:cNvSpPr>
          <p:nvPr/>
        </p:nvSpPr>
        <p:spPr>
          <a:xfrm>
            <a:off x="1181100" y="56483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7BA37E-AF96-4E1E-99A8-A94BD35A76BA}"/>
              </a:ext>
            </a:extLst>
          </p:cNvPr>
          <p:cNvSpPr>
            <a:spLocks noGrp="1"/>
          </p:cNvSpPr>
          <p:nvPr/>
        </p:nvSpPr>
        <p:spPr>
          <a:xfrm>
            <a:off x="1390650" y="5562600"/>
            <a:ext cx="3219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propose next moves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6BD2B9-519B-4298-82D6-62EDB2494F7F}"/>
              </a:ext>
            </a:extLst>
          </p:cNvPr>
          <p:cNvSpPr>
            <a:spLocks noGrp="1"/>
          </p:cNvSpPr>
          <p:nvPr/>
        </p:nvSpPr>
        <p:spPr>
          <a:xfrm>
            <a:off x="6496050" y="4533900"/>
            <a:ext cx="4762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563EC8-5B18-4FC4-B6F2-8FBA2882CA81}"/>
              </a:ext>
            </a:extLst>
          </p:cNvPr>
          <p:cNvSpPr>
            <a:spLocks noGrp="1"/>
          </p:cNvSpPr>
          <p:nvPr/>
        </p:nvSpPr>
        <p:spPr>
          <a:xfrm>
            <a:off x="6762750" y="47625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rPr>
              <a:t>Forbidden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8822B8-569A-4FE1-8917-570757DEA5B5}"/>
              </a:ext>
            </a:extLst>
          </p:cNvPr>
          <p:cNvSpPr>
            <a:spLocks noGrp="1"/>
          </p:cNvSpPr>
          <p:nvPr/>
        </p:nvSpPr>
        <p:spPr>
          <a:xfrm>
            <a:off x="6781800" y="51911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6BA4D6-EC6A-40EE-90D5-782AA4A8DBA7}"/>
              </a:ext>
            </a:extLst>
          </p:cNvPr>
          <p:cNvSpPr>
            <a:spLocks noGrp="1"/>
          </p:cNvSpPr>
          <p:nvPr/>
        </p:nvSpPr>
        <p:spPr>
          <a:xfrm>
            <a:off x="6991350" y="5105400"/>
            <a:ext cx="3219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edit Theory directly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B540FE-A029-402F-966E-ED764A15E5A8}"/>
              </a:ext>
            </a:extLst>
          </p:cNvPr>
          <p:cNvSpPr>
            <a:spLocks noGrp="1"/>
          </p:cNvSpPr>
          <p:nvPr/>
        </p:nvSpPr>
        <p:spPr>
          <a:xfrm>
            <a:off x="6781800" y="54197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320036-F7DB-43A8-A434-8B54063BB8C6}"/>
              </a:ext>
            </a:extLst>
          </p:cNvPr>
          <p:cNvSpPr>
            <a:spLocks noGrp="1"/>
          </p:cNvSpPr>
          <p:nvPr/>
        </p:nvSpPr>
        <p:spPr>
          <a:xfrm>
            <a:off x="6991350" y="5334000"/>
            <a:ext cx="3219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mark nodes true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BEFAED-0A58-4DCD-B30F-88E19A0DEC55}"/>
              </a:ext>
            </a:extLst>
          </p:cNvPr>
          <p:cNvSpPr>
            <a:spLocks noGrp="1"/>
          </p:cNvSpPr>
          <p:nvPr/>
        </p:nvSpPr>
        <p:spPr>
          <a:xfrm>
            <a:off x="6781800" y="56483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F5058A-F21B-4A71-9EA2-6435B336FD8A}"/>
              </a:ext>
            </a:extLst>
          </p:cNvPr>
          <p:cNvSpPr>
            <a:spLocks noGrp="1"/>
          </p:cNvSpPr>
          <p:nvPr/>
        </p:nvSpPr>
        <p:spPr>
          <a:xfrm>
            <a:off x="6991350" y="5562600"/>
            <a:ext cx="3219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complete Codex goals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0DAF5A-7280-4869-868E-853BA5784A3D}"/>
              </a:ext>
            </a:extLst>
          </p:cNvPr>
          <p:cNvSpPr>
            <a:spLocks noGrp="1"/>
          </p:cNvSpPr>
          <p:nvPr/>
        </p:nvSpPr>
        <p:spPr>
          <a:xfrm>
            <a:off x="914400" y="60579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Oracle may suggest. It may not certify.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0BA554-B86A-4485-90D5-61E4B885DD6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oracle-chatgpt skill + Pudim oracle spec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52597BD-4599-4B01-9677-88E74114DF0D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1657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FB31FCE-878C-46CE-8C87-5CCC49BBA6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C4F7EDA-B54A-486B-8756-152195528B60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8D913A1-3169-4576-ABBF-0F7AA6F73A8A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B281E-B25F-4209-B6F9-0820F539657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Publishing is a separate, gated phase.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531BB1-4637-4F49-8764-2576B5DB64EA}"/>
              </a:ext>
            </a:extLst>
          </p:cNvPr>
          <p:cNvSpPr>
            <a:spLocks noGrp="1"/>
          </p:cNvSpPr>
          <p:nvPr/>
        </p:nvSpPr>
        <p:spPr>
          <a:xfrm>
            <a:off x="590550" y="1657350"/>
            <a:ext cx="685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Local staging is user-invoked only. It reads audited Theory state and blocks bad public output.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C5F07B-BBAD-4D01-9CA4-E6A725D7E148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18859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7268D-8634-47CC-B95E-6E53E5104834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1885950" cy="47625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796307-F1A5-482B-A737-FBBEDC4E9148}"/>
              </a:ext>
            </a:extLst>
          </p:cNvPr>
          <p:cNvSpPr>
            <a:spLocks noGrp="1"/>
          </p:cNvSpPr>
          <p:nvPr/>
        </p:nvSpPr>
        <p:spPr>
          <a:xfrm>
            <a:off x="695325" y="3028950"/>
            <a:ext cx="1600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Theory 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D6DECB-574B-481B-89C2-FF74FDCC3C61}"/>
              </a:ext>
            </a:extLst>
          </p:cNvPr>
          <p:cNvSpPr>
            <a:spLocks noGrp="1"/>
          </p:cNvSpPr>
          <p:nvPr/>
        </p:nvSpPr>
        <p:spPr>
          <a:xfrm>
            <a:off x="695325" y="3305175"/>
            <a:ext cx="1600200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true/open only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0277C6-5217-46FC-ADDB-601F034C6459}"/>
              </a:ext>
            </a:extLst>
          </p:cNvPr>
          <p:cNvSpPr>
            <a:spLocks noGrp="1"/>
          </p:cNvSpPr>
          <p:nvPr/>
        </p:nvSpPr>
        <p:spPr>
          <a:xfrm>
            <a:off x="2476500" y="3267075"/>
            <a:ext cx="28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8A2C42-79C7-4720-913A-BC9562D77347}"/>
              </a:ext>
            </a:extLst>
          </p:cNvPr>
          <p:cNvSpPr>
            <a:spLocks noGrp="1"/>
          </p:cNvSpPr>
          <p:nvPr/>
        </p:nvSpPr>
        <p:spPr>
          <a:xfrm>
            <a:off x="2790825" y="2876550"/>
            <a:ext cx="18859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53F0E7-C40B-4D55-BC35-EBC3E88E5260}"/>
              </a:ext>
            </a:extLst>
          </p:cNvPr>
          <p:cNvSpPr>
            <a:spLocks noGrp="1"/>
          </p:cNvSpPr>
          <p:nvPr/>
        </p:nvSpPr>
        <p:spPr>
          <a:xfrm>
            <a:off x="2790825" y="2876550"/>
            <a:ext cx="1885950" cy="47625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54206-C821-4F98-8161-4D9BC4F5BB1D}"/>
              </a:ext>
            </a:extLst>
          </p:cNvPr>
          <p:cNvSpPr>
            <a:spLocks noGrp="1"/>
          </p:cNvSpPr>
          <p:nvPr/>
        </p:nvSpPr>
        <p:spPr>
          <a:xfrm>
            <a:off x="2933700" y="3028950"/>
            <a:ext cx="1600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Stage audit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386AB2-E5BF-4FF5-B261-1B3B31DECB1B}"/>
              </a:ext>
            </a:extLst>
          </p:cNvPr>
          <p:cNvSpPr>
            <a:spLocks noGrp="1"/>
          </p:cNvSpPr>
          <p:nvPr/>
        </p:nvSpPr>
        <p:spPr>
          <a:xfrm>
            <a:off x="2933700" y="3305175"/>
            <a:ext cx="1600200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contradictions, provenance,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notation order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D112FF-3AB0-4650-994A-477E24E4F394}"/>
              </a:ext>
            </a:extLst>
          </p:cNvPr>
          <p:cNvSpPr>
            <a:spLocks noGrp="1"/>
          </p:cNvSpPr>
          <p:nvPr/>
        </p:nvSpPr>
        <p:spPr>
          <a:xfrm>
            <a:off x="4714875" y="3267075"/>
            <a:ext cx="28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708C9F-0AAA-4F14-A02F-EA32E9AB15FC}"/>
              </a:ext>
            </a:extLst>
          </p:cNvPr>
          <p:cNvSpPr>
            <a:spLocks noGrp="1"/>
          </p:cNvSpPr>
          <p:nvPr/>
        </p:nvSpPr>
        <p:spPr>
          <a:xfrm>
            <a:off x="5029200" y="2876550"/>
            <a:ext cx="18859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702149-9B3A-457B-9700-6777594E6D93}"/>
              </a:ext>
            </a:extLst>
          </p:cNvPr>
          <p:cNvSpPr>
            <a:spLocks noGrp="1"/>
          </p:cNvSpPr>
          <p:nvPr/>
        </p:nvSpPr>
        <p:spPr>
          <a:xfrm>
            <a:off x="5029200" y="2876550"/>
            <a:ext cx="1885950" cy="4762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7E01C1-FCD6-48E8-B677-A90A7ADB4C97}"/>
              </a:ext>
            </a:extLst>
          </p:cNvPr>
          <p:cNvSpPr>
            <a:spLocks noGrp="1"/>
          </p:cNvSpPr>
          <p:nvPr/>
        </p:nvSpPr>
        <p:spPr>
          <a:xfrm>
            <a:off x="5172075" y="3028950"/>
            <a:ext cx="1600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PDF build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6B586A-5452-4F89-B19F-AFA83580B474}"/>
              </a:ext>
            </a:extLst>
          </p:cNvPr>
          <p:cNvSpPr>
            <a:spLocks noGrp="1"/>
          </p:cNvSpPr>
          <p:nvPr/>
        </p:nvSpPr>
        <p:spPr>
          <a:xfrm>
            <a:off x="5172075" y="3305175"/>
            <a:ext cx="1600200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Tectonic compile gate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9CFB77-7143-448C-9DC8-30B07A340011}"/>
              </a:ext>
            </a:extLst>
          </p:cNvPr>
          <p:cNvSpPr>
            <a:spLocks noGrp="1"/>
          </p:cNvSpPr>
          <p:nvPr/>
        </p:nvSpPr>
        <p:spPr>
          <a:xfrm>
            <a:off x="6953250" y="3267075"/>
            <a:ext cx="28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BA36BA-6FCA-49CF-82E8-3FEB22F382AD}"/>
              </a:ext>
            </a:extLst>
          </p:cNvPr>
          <p:cNvSpPr>
            <a:spLocks noGrp="1"/>
          </p:cNvSpPr>
          <p:nvPr/>
        </p:nvSpPr>
        <p:spPr>
          <a:xfrm>
            <a:off x="7267575" y="2876550"/>
            <a:ext cx="18859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8CC22D-F580-497A-9320-A2FB9016B4ED}"/>
              </a:ext>
            </a:extLst>
          </p:cNvPr>
          <p:cNvSpPr>
            <a:spLocks noGrp="1"/>
          </p:cNvSpPr>
          <p:nvPr/>
        </p:nvSpPr>
        <p:spPr>
          <a:xfrm>
            <a:off x="7267575" y="2876550"/>
            <a:ext cx="1885950" cy="4762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89EA76-EF01-4306-BA07-77991F57F92F}"/>
              </a:ext>
            </a:extLst>
          </p:cNvPr>
          <p:cNvSpPr>
            <a:spLocks noGrp="1"/>
          </p:cNvSpPr>
          <p:nvPr/>
        </p:nvSpPr>
        <p:spPr>
          <a:xfrm>
            <a:off x="7410450" y="3028950"/>
            <a:ext cx="1600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Public ledger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08DB68-72AC-471F-920E-B5BA83AA844D}"/>
              </a:ext>
            </a:extLst>
          </p:cNvPr>
          <p:cNvSpPr>
            <a:spLocks noGrp="1"/>
          </p:cNvSpPr>
          <p:nvPr/>
        </p:nvSpPr>
        <p:spPr>
          <a:xfrm>
            <a:off x="7410450" y="3305175"/>
            <a:ext cx="1600200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applications, manifest,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README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1F8AB7-DE03-4D70-8FC4-C839390436F6}"/>
              </a:ext>
            </a:extLst>
          </p:cNvPr>
          <p:cNvSpPr>
            <a:spLocks noGrp="1"/>
          </p:cNvSpPr>
          <p:nvPr/>
        </p:nvSpPr>
        <p:spPr>
          <a:xfrm>
            <a:off x="9191625" y="3267075"/>
            <a:ext cx="28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DB3A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A709BE-152A-4132-82C3-8BA3E0DF19A7}"/>
              </a:ext>
            </a:extLst>
          </p:cNvPr>
          <p:cNvSpPr>
            <a:spLocks noGrp="1"/>
          </p:cNvSpPr>
          <p:nvPr/>
        </p:nvSpPr>
        <p:spPr>
          <a:xfrm>
            <a:off x="9505950" y="2876550"/>
            <a:ext cx="18859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593540-14CE-40CF-970B-553D25BEFD4B}"/>
              </a:ext>
            </a:extLst>
          </p:cNvPr>
          <p:cNvSpPr>
            <a:spLocks noGrp="1"/>
          </p:cNvSpPr>
          <p:nvPr/>
        </p:nvSpPr>
        <p:spPr>
          <a:xfrm>
            <a:off x="9505950" y="2876550"/>
            <a:ext cx="1885950" cy="47625"/>
          </a:xfrm>
          <a:prstGeom prst="rect">
            <a:avLst/>
          </a:prstGeom>
          <a:solidFill>
            <a:srgbClr val="7D6FD8"/>
          </a:solidFill>
          <a:ln w="0">
            <a:solidFill>
              <a:srgbClr val="7D6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4F805C-E612-4DB7-9F23-84E7FA267DA4}"/>
              </a:ext>
            </a:extLst>
          </p:cNvPr>
          <p:cNvSpPr>
            <a:spLocks noGrp="1"/>
          </p:cNvSpPr>
          <p:nvPr/>
        </p:nvSpPr>
        <p:spPr>
          <a:xfrm>
            <a:off x="9648825" y="3028950"/>
            <a:ext cx="16002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Outreach drafts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34E7C8-AD88-454E-A821-41306ED4B881}"/>
              </a:ext>
            </a:extLst>
          </p:cNvPr>
          <p:cNvSpPr>
            <a:spLocks noGrp="1"/>
          </p:cNvSpPr>
          <p:nvPr/>
        </p:nvSpPr>
        <p:spPr>
          <a:xfrm>
            <a:off x="9648825" y="3305175"/>
            <a:ext cx="1600200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Gmail-ready,</a:t>
            </a:r>
          </a:p>
          <a:p>
            <a:pPr algn="l">
              <a:defRPr sz="923" b="0">
                <a:solidFill>
                  <a:srgbClr val="5E66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E6670"/>
                </a:solidFill>
                <a:latin typeface="Aptos"/>
                <a:ea typeface="Aptos"/>
                <a:cs typeface="Aptos"/>
              </a:rPr>
              <a:t>never sent automatically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912B19-C7E0-4CA1-9E45-3D23FD8155B4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9525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Hard public gates include: no raw logs, no open-as-theorem promotion, no undefined notation before definition, no informal abstract hype.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7F984F-5156-42D5-BD3C-2C85969330C6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790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This matters because AI output can look polished while still being structurally sloppy.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3EA13A-B2D0-4557-A477-B98F0B7A2A8A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Source: Pudim forage-and-staging spec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74B66D-33E8-43B8-9471-9BCE0D3EDA16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7453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1AE6B398-33AA-4EB8-B151-DD6EA0D57E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D222741-42BA-4F6F-A7CF-51911E93B339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BCE9FC6-8518-4537-85AF-F768DED365C0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CASE STUDY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55A8B-A2DE-4D7D-B3EC-6B784FB1FC7B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8191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Zeta-law demo: public repo + proof graph.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686" b="7686"/>
          <a:stretch>
            <a:fillRect/>
          </a:stretch>
        </p:blipFill>
        <p:spPr>
          <a:xfrm>
            <a:off x="552450" y="1466850"/>
            <a:ext cx="6191250" cy="36385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066DA0-3949-4F9E-8742-76DEDBF187FF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6191250" cy="3638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650A35-1605-4BB4-BBCF-E20603ACE4AF}"/>
              </a:ext>
            </a:extLst>
          </p:cNvPr>
          <p:cNvSpPr>
            <a:spLocks noGrp="1"/>
          </p:cNvSpPr>
          <p:nvPr/>
        </p:nvSpPr>
        <p:spPr>
          <a:xfrm>
            <a:off x="7105650" y="1447800"/>
            <a:ext cx="18859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BC2477-CB24-43BE-98BD-4725D91F05E0}"/>
              </a:ext>
            </a:extLst>
          </p:cNvPr>
          <p:cNvSpPr>
            <a:spLocks noGrp="1"/>
          </p:cNvSpPr>
          <p:nvPr/>
        </p:nvSpPr>
        <p:spPr>
          <a:xfrm>
            <a:off x="7105650" y="1447800"/>
            <a:ext cx="47625" cy="1123950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CB3C44-BA18-483B-9B6D-E47C28A3C518}"/>
              </a:ext>
            </a:extLst>
          </p:cNvPr>
          <p:cNvSpPr>
            <a:spLocks noGrp="1"/>
          </p:cNvSpPr>
          <p:nvPr/>
        </p:nvSpPr>
        <p:spPr>
          <a:xfrm>
            <a:off x="7296150" y="1619250"/>
            <a:ext cx="1562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C1B5D-5427-4A04-AC86-FA7105073202}"/>
              </a:ext>
            </a:extLst>
          </p:cNvPr>
          <p:cNvSpPr>
            <a:spLocks noGrp="1"/>
          </p:cNvSpPr>
          <p:nvPr/>
        </p:nvSpPr>
        <p:spPr>
          <a:xfrm>
            <a:off x="7315200" y="20288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solved applications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E189A8-E842-4627-878D-C98B17222BF3}"/>
              </a:ext>
            </a:extLst>
          </p:cNvPr>
          <p:cNvSpPr>
            <a:spLocks noGrp="1"/>
          </p:cNvSpPr>
          <p:nvPr/>
        </p:nvSpPr>
        <p:spPr>
          <a:xfrm>
            <a:off x="7315200" y="2276475"/>
            <a:ext cx="1543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public ledger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616BE0-5691-49B7-9263-AA0A10BFC428}"/>
              </a:ext>
            </a:extLst>
          </p:cNvPr>
          <p:cNvSpPr>
            <a:spLocks noGrp="1"/>
          </p:cNvSpPr>
          <p:nvPr/>
        </p:nvSpPr>
        <p:spPr>
          <a:xfrm>
            <a:off x="9258300" y="1447800"/>
            <a:ext cx="18859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09D92C-FB95-4776-A6BA-65692528AC46}"/>
              </a:ext>
            </a:extLst>
          </p:cNvPr>
          <p:cNvSpPr>
            <a:spLocks noGrp="1"/>
          </p:cNvSpPr>
          <p:nvPr/>
        </p:nvSpPr>
        <p:spPr>
          <a:xfrm>
            <a:off x="9258300" y="1447800"/>
            <a:ext cx="47625" cy="1123950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902450-7813-4FF8-892F-3395C074E0D0}"/>
              </a:ext>
            </a:extLst>
          </p:cNvPr>
          <p:cNvSpPr>
            <a:spLocks noGrp="1"/>
          </p:cNvSpPr>
          <p:nvPr/>
        </p:nvSpPr>
        <p:spPr>
          <a:xfrm>
            <a:off x="9448800" y="1619250"/>
            <a:ext cx="1562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215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9BFA6-AF14-4FB6-A40E-049BFE7EAF40}"/>
              </a:ext>
            </a:extLst>
          </p:cNvPr>
          <p:cNvSpPr>
            <a:spLocks noGrp="1"/>
          </p:cNvSpPr>
          <p:nvPr/>
        </p:nvSpPr>
        <p:spPr>
          <a:xfrm>
            <a:off x="9467850" y="202882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public wiki nodes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4DD67-4A29-440D-AECB-E880A7092C38}"/>
              </a:ext>
            </a:extLst>
          </p:cNvPr>
          <p:cNvSpPr>
            <a:spLocks noGrp="1"/>
          </p:cNvSpPr>
          <p:nvPr/>
        </p:nvSpPr>
        <p:spPr>
          <a:xfrm>
            <a:off x="9467850" y="2276475"/>
            <a:ext cx="1543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stage_v006 vault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930531-C7C3-49C2-979C-4AF3DCCC23DA}"/>
              </a:ext>
            </a:extLst>
          </p:cNvPr>
          <p:cNvSpPr>
            <a:spLocks noGrp="1"/>
          </p:cNvSpPr>
          <p:nvPr/>
        </p:nvSpPr>
        <p:spPr>
          <a:xfrm>
            <a:off x="7105650" y="2724150"/>
            <a:ext cx="18859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C3ED3C-DF92-4183-BBB5-868BE0D19F38}"/>
              </a:ext>
            </a:extLst>
          </p:cNvPr>
          <p:cNvSpPr>
            <a:spLocks noGrp="1"/>
          </p:cNvSpPr>
          <p:nvPr/>
        </p:nvSpPr>
        <p:spPr>
          <a:xfrm>
            <a:off x="7105650" y="2724150"/>
            <a:ext cx="47625" cy="1123950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51042-FBCC-4C48-8607-E97D25B7643B}"/>
              </a:ext>
            </a:extLst>
          </p:cNvPr>
          <p:cNvSpPr>
            <a:spLocks noGrp="1"/>
          </p:cNvSpPr>
          <p:nvPr/>
        </p:nvSpPr>
        <p:spPr>
          <a:xfrm>
            <a:off x="7296150" y="2895600"/>
            <a:ext cx="1562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614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66973-9325-4BCA-8218-6C43C6E02CD2}"/>
              </a:ext>
            </a:extLst>
          </p:cNvPr>
          <p:cNvSpPr>
            <a:spLocks noGrp="1"/>
          </p:cNvSpPr>
          <p:nvPr/>
        </p:nvSpPr>
        <p:spPr>
          <a:xfrm>
            <a:off x="7315200" y="330517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public wiki edges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3F1930-B9CF-4003-A4A7-F741CBE34AD5}"/>
              </a:ext>
            </a:extLst>
          </p:cNvPr>
          <p:cNvSpPr>
            <a:spLocks noGrp="1"/>
          </p:cNvSpPr>
          <p:nvPr/>
        </p:nvSpPr>
        <p:spPr>
          <a:xfrm>
            <a:off x="7315200" y="3552825"/>
            <a:ext cx="1543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graph.json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B6E55F-DE58-4200-88B4-1D8B81A19981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8859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F9192C-5285-4DC3-9754-EA651F8415C8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47625" cy="1123950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6C818E-7088-4018-BC21-8B362985C715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1562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11820"/>
                </a:solidFill>
                <a:latin typeface="Aptos Display"/>
                <a:ea typeface="Aptos Display"/>
                <a:cs typeface="Aptos Display"/>
              </a:rPr>
              <a:t>37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A471D6-E392-4B5F-BCF2-6AC98175B899}"/>
              </a:ext>
            </a:extLst>
          </p:cNvPr>
          <p:cNvSpPr>
            <a:spLocks noGrp="1"/>
          </p:cNvSpPr>
          <p:nvPr/>
        </p:nvSpPr>
        <p:spPr>
          <a:xfrm>
            <a:off x="9467850" y="3305175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733"/>
                </a:solidFill>
                <a:latin typeface="Aptos"/>
                <a:ea typeface="Aptos"/>
                <a:cs typeface="Aptos"/>
              </a:rPr>
              <a:t>THEORY_v010 pages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F7A384-5022-44B4-A23F-3FA953C154DF}"/>
              </a:ext>
            </a:extLst>
          </p:cNvPr>
          <p:cNvSpPr>
            <a:spLocks noGrp="1"/>
          </p:cNvSpPr>
          <p:nvPr/>
        </p:nvSpPr>
        <p:spPr>
          <a:xfrm>
            <a:off x="9467850" y="3552825"/>
            <a:ext cx="1543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6A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6A63"/>
                </a:solidFill>
                <a:latin typeface="Aptos"/>
                <a:ea typeface="Aptos"/>
                <a:cs typeface="Aptos"/>
              </a:rPr>
              <a:t>current PDF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EFBB4D-163D-4680-B4C3-375B6A26E2FA}"/>
              </a:ext>
            </a:extLst>
          </p:cNvPr>
          <p:cNvSpPr>
            <a:spLocks noGrp="1"/>
          </p:cNvSpPr>
          <p:nvPr/>
        </p:nvSpPr>
        <p:spPr>
          <a:xfrm>
            <a:off x="7105650" y="4171950"/>
            <a:ext cx="4038600" cy="18859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DD3E7A-8ECB-4EF4-898E-326992CA91A9}"/>
              </a:ext>
            </a:extLst>
          </p:cNvPr>
          <p:cNvSpPr>
            <a:spLocks noGrp="1"/>
          </p:cNvSpPr>
          <p:nvPr/>
        </p:nvSpPr>
        <p:spPr>
          <a:xfrm>
            <a:off x="7315200" y="4343400"/>
            <a:ext cx="3200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Source geography by author affiliation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B6D6D6-EC83-4C65-A1C1-E61D7A710D37}"/>
              </a:ext>
            </a:extLst>
          </p:cNvPr>
          <p:cNvSpPr>
            <a:spLocks noGrp="1"/>
          </p:cNvSpPr>
          <p:nvPr/>
        </p:nvSpPr>
        <p:spPr>
          <a:xfrm>
            <a:off x="7315200" y="46291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China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42570E-07B5-4966-9605-C7F5278184E6}"/>
              </a:ext>
            </a:extLst>
          </p:cNvPr>
          <p:cNvSpPr>
            <a:spLocks noGrp="1"/>
          </p:cNvSpPr>
          <p:nvPr/>
        </p:nvSpPr>
        <p:spPr>
          <a:xfrm>
            <a:off x="8267700" y="4667250"/>
            <a:ext cx="1524000" cy="95250"/>
          </a:xfrm>
          <a:prstGeom prst="rect">
            <a:avLst/>
          </a:prstGeom>
          <a:solidFill>
            <a:srgbClr val="E6DED3"/>
          </a:solidFill>
          <a:ln w="0">
            <a:solidFill>
              <a:srgbClr val="E6D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A056CB-EF79-42C6-9A1A-8C83FB1DAD53}"/>
              </a:ext>
            </a:extLst>
          </p:cNvPr>
          <p:cNvSpPr>
            <a:spLocks noGrp="1"/>
          </p:cNvSpPr>
          <p:nvPr/>
        </p:nvSpPr>
        <p:spPr>
          <a:xfrm>
            <a:off x="8267700" y="4667250"/>
            <a:ext cx="1524000" cy="95250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27B2BA-0F60-4D34-9050-A2C947DF8CFC}"/>
              </a:ext>
            </a:extLst>
          </p:cNvPr>
          <p:cNvSpPr>
            <a:spLocks noGrp="1"/>
          </p:cNvSpPr>
          <p:nvPr/>
        </p:nvSpPr>
        <p:spPr>
          <a:xfrm>
            <a:off x="9867900" y="46291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8DD9D9-9067-45CC-9EC6-CC32EAF30382}"/>
              </a:ext>
            </a:extLst>
          </p:cNvPr>
          <p:cNvSpPr>
            <a:spLocks noGrp="1"/>
          </p:cNvSpPr>
          <p:nvPr/>
        </p:nvSpPr>
        <p:spPr>
          <a:xfrm>
            <a:off x="7315200" y="48577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Korea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ADA9B4-B5A5-4CC8-B800-FB7D54A951FE}"/>
              </a:ext>
            </a:extLst>
          </p:cNvPr>
          <p:cNvSpPr>
            <a:spLocks noGrp="1"/>
          </p:cNvSpPr>
          <p:nvPr/>
        </p:nvSpPr>
        <p:spPr>
          <a:xfrm>
            <a:off x="8267700" y="4895850"/>
            <a:ext cx="1524000" cy="95250"/>
          </a:xfrm>
          <a:prstGeom prst="rect">
            <a:avLst/>
          </a:prstGeom>
          <a:solidFill>
            <a:srgbClr val="E6DED3"/>
          </a:solidFill>
          <a:ln w="0">
            <a:solidFill>
              <a:srgbClr val="E6D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F0B9B-11A3-4193-9788-13187B386E8B}"/>
              </a:ext>
            </a:extLst>
          </p:cNvPr>
          <p:cNvSpPr>
            <a:spLocks noGrp="1"/>
          </p:cNvSpPr>
          <p:nvPr/>
        </p:nvSpPr>
        <p:spPr>
          <a:xfrm>
            <a:off x="8267700" y="4895850"/>
            <a:ext cx="809625" cy="95250"/>
          </a:xfrm>
          <a:prstGeom prst="rect">
            <a:avLst/>
          </a:prstGeom>
          <a:solidFill>
            <a:srgbClr val="19A7B8"/>
          </a:solidFill>
          <a:ln w="0">
            <a:solidFill>
              <a:srgbClr val="19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998231-7400-43EF-8490-588E662817F1}"/>
              </a:ext>
            </a:extLst>
          </p:cNvPr>
          <p:cNvSpPr>
            <a:spLocks noGrp="1"/>
          </p:cNvSpPr>
          <p:nvPr/>
        </p:nvSpPr>
        <p:spPr>
          <a:xfrm>
            <a:off x="9867900" y="48577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CAE15E-95FE-48E1-B5F9-3C34497058B9}"/>
              </a:ext>
            </a:extLst>
          </p:cNvPr>
          <p:cNvSpPr>
            <a:spLocks noGrp="1"/>
          </p:cNvSpPr>
          <p:nvPr/>
        </p:nvSpPr>
        <p:spPr>
          <a:xfrm>
            <a:off x="7315200" y="50863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Ghana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7DC15E-DECA-43C3-A304-625EF179FAD7}"/>
              </a:ext>
            </a:extLst>
          </p:cNvPr>
          <p:cNvSpPr>
            <a:spLocks noGrp="1"/>
          </p:cNvSpPr>
          <p:nvPr/>
        </p:nvSpPr>
        <p:spPr>
          <a:xfrm>
            <a:off x="8267700" y="5124450"/>
            <a:ext cx="1524000" cy="95250"/>
          </a:xfrm>
          <a:prstGeom prst="rect">
            <a:avLst/>
          </a:prstGeom>
          <a:solidFill>
            <a:srgbClr val="E6DED3"/>
          </a:solidFill>
          <a:ln w="0">
            <a:solidFill>
              <a:srgbClr val="E6D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6D9BF9-F0C1-4B3B-9CEB-8356B6D74A76}"/>
              </a:ext>
            </a:extLst>
          </p:cNvPr>
          <p:cNvSpPr>
            <a:spLocks noGrp="1"/>
          </p:cNvSpPr>
          <p:nvPr/>
        </p:nvSpPr>
        <p:spPr>
          <a:xfrm>
            <a:off x="8267700" y="5124450"/>
            <a:ext cx="447675" cy="95250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2F8FF1-BD65-4F3C-BF8D-85C8F0126FE9}"/>
              </a:ext>
            </a:extLst>
          </p:cNvPr>
          <p:cNvSpPr>
            <a:spLocks noGrp="1"/>
          </p:cNvSpPr>
          <p:nvPr/>
        </p:nvSpPr>
        <p:spPr>
          <a:xfrm>
            <a:off x="9867900" y="50863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A9DAFB-525A-4B05-87FC-8DAEFE05C378}"/>
              </a:ext>
            </a:extLst>
          </p:cNvPr>
          <p:cNvSpPr>
            <a:spLocks noGrp="1"/>
          </p:cNvSpPr>
          <p:nvPr/>
        </p:nvSpPr>
        <p:spPr>
          <a:xfrm>
            <a:off x="7315200" y="53149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Germany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67C942-F986-4D12-9204-780ECC4ABAFA}"/>
              </a:ext>
            </a:extLst>
          </p:cNvPr>
          <p:cNvSpPr>
            <a:spLocks noGrp="1"/>
          </p:cNvSpPr>
          <p:nvPr/>
        </p:nvSpPr>
        <p:spPr>
          <a:xfrm>
            <a:off x="8267700" y="5353050"/>
            <a:ext cx="1524000" cy="95250"/>
          </a:xfrm>
          <a:prstGeom prst="rect">
            <a:avLst/>
          </a:prstGeom>
          <a:solidFill>
            <a:srgbClr val="E6DED3"/>
          </a:solidFill>
          <a:ln w="0">
            <a:solidFill>
              <a:srgbClr val="E6D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EA6014-EA3C-4CAA-89FD-933E0B3EC052}"/>
              </a:ext>
            </a:extLst>
          </p:cNvPr>
          <p:cNvSpPr>
            <a:spLocks noGrp="1"/>
          </p:cNvSpPr>
          <p:nvPr/>
        </p:nvSpPr>
        <p:spPr>
          <a:xfrm>
            <a:off x="8267700" y="5353050"/>
            <a:ext cx="361950" cy="95250"/>
          </a:xfrm>
          <a:prstGeom prst="rect">
            <a:avLst/>
          </a:prstGeom>
          <a:solidFill>
            <a:srgbClr val="D8A13A"/>
          </a:solidFill>
          <a:ln w="0">
            <a:solidFill>
              <a:srgbClr val="D8A1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91A2D2-75A6-4A1D-9C43-22DCCFF9A3E6}"/>
              </a:ext>
            </a:extLst>
          </p:cNvPr>
          <p:cNvSpPr>
            <a:spLocks noGrp="1"/>
          </p:cNvSpPr>
          <p:nvPr/>
        </p:nvSpPr>
        <p:spPr>
          <a:xfrm>
            <a:off x="9867900" y="53149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CCF7DD-E6C0-477D-BE83-8A3A0E6A8A1F}"/>
              </a:ext>
            </a:extLst>
          </p:cNvPr>
          <p:cNvSpPr>
            <a:spLocks noGrp="1"/>
          </p:cNvSpPr>
          <p:nvPr/>
        </p:nvSpPr>
        <p:spPr>
          <a:xfrm>
            <a:off x="7315200" y="55435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Hungary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229BB1-C247-4BD6-93D2-129794A3F0E5}"/>
              </a:ext>
            </a:extLst>
          </p:cNvPr>
          <p:cNvSpPr>
            <a:spLocks noGrp="1"/>
          </p:cNvSpPr>
          <p:nvPr/>
        </p:nvSpPr>
        <p:spPr>
          <a:xfrm>
            <a:off x="8267700" y="5581650"/>
            <a:ext cx="1524000" cy="95250"/>
          </a:xfrm>
          <a:prstGeom prst="rect">
            <a:avLst/>
          </a:prstGeom>
          <a:solidFill>
            <a:srgbClr val="E6DED3"/>
          </a:solidFill>
          <a:ln w="0">
            <a:solidFill>
              <a:srgbClr val="E6D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E09CB7-DE8C-4805-B688-D78C0F6A8E1E}"/>
              </a:ext>
            </a:extLst>
          </p:cNvPr>
          <p:cNvSpPr>
            <a:spLocks noGrp="1"/>
          </p:cNvSpPr>
          <p:nvPr/>
        </p:nvSpPr>
        <p:spPr>
          <a:xfrm>
            <a:off x="8267700" y="5581650"/>
            <a:ext cx="180975" cy="95250"/>
          </a:xfrm>
          <a:prstGeom prst="rect">
            <a:avLst/>
          </a:prstGeom>
          <a:solidFill>
            <a:srgbClr val="7D6FD8"/>
          </a:solidFill>
          <a:ln w="0">
            <a:solidFill>
              <a:srgbClr val="7D6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3A7DE2-767A-48F5-BBA4-AD69EA2A0F30}"/>
              </a:ext>
            </a:extLst>
          </p:cNvPr>
          <p:cNvSpPr>
            <a:spLocks noGrp="1"/>
          </p:cNvSpPr>
          <p:nvPr/>
        </p:nvSpPr>
        <p:spPr>
          <a:xfrm>
            <a:off x="9867900" y="55435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E2C7F9-8261-468D-9726-8A30DAA5E767}"/>
              </a:ext>
            </a:extLst>
          </p:cNvPr>
          <p:cNvSpPr>
            <a:spLocks noGrp="1"/>
          </p:cNvSpPr>
          <p:nvPr/>
        </p:nvSpPr>
        <p:spPr>
          <a:xfrm>
            <a:off x="7315200" y="57721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D27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73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D8BCA1-1501-44FC-9F49-493D9C0EFF35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1524000" cy="95250"/>
          </a:xfrm>
          <a:prstGeom prst="rect">
            <a:avLst/>
          </a:prstGeom>
          <a:solidFill>
            <a:srgbClr val="E6DED3"/>
          </a:solidFill>
          <a:ln w="0">
            <a:solidFill>
              <a:srgbClr val="E6D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4FE0AE1-0F69-4703-A49C-9C67058DE778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1076325" cy="95250"/>
          </a:xfrm>
          <a:prstGeom prst="rect">
            <a:avLst/>
          </a:prstGeom>
          <a:solidFill>
            <a:srgbClr val="8A7F73"/>
          </a:solidFill>
          <a:ln w="0">
            <a:solidFill>
              <a:srgbClr val="8A7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ED78A3-3570-4A37-AB4E-62847113B29F}"/>
              </a:ext>
            </a:extLst>
          </p:cNvPr>
          <p:cNvSpPr>
            <a:spLocks noGrp="1"/>
          </p:cNvSpPr>
          <p:nvPr/>
        </p:nvSpPr>
        <p:spPr>
          <a:xfrm>
            <a:off x="9867900" y="57721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D2733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F6AD84-C997-4433-BBA2-8BE7FC388FB0}"/>
              </a:ext>
            </a:extLst>
          </p:cNvPr>
          <p:cNvSpPr>
            <a:spLocks noGrp="1"/>
          </p:cNvSpPr>
          <p:nvPr/>
        </p:nvSpPr>
        <p:spPr>
          <a:xfrm>
            <a:off x="7105650" y="61531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625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6258"/>
                </a:solidFill>
                <a:latin typeface="Aptos"/>
                <a:ea typeface="Aptos"/>
                <a:cs typeface="Aptos"/>
              </a:rPr>
              <a:t>Per-author-affiliation count from public source metadata; ambiguous affiliations should be independently verified.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42E218-5EBF-4153-9A73-6FED61C345F0}"/>
              </a:ext>
            </a:extLst>
          </p:cNvPr>
          <p:cNvSpPr>
            <a:spLocks noGrp="1"/>
          </p:cNvSpPr>
          <p:nvPr/>
        </p:nvSpPr>
        <p:spPr>
          <a:xfrm>
            <a:off x="723900" y="5467350"/>
            <a:ext cx="590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0"/>
                </a:solidFill>
                <a:latin typeface="Aptos"/>
                <a:ea typeface="Aptos"/>
                <a:cs typeface="Aptos"/>
              </a:rPr>
              <a:t>Example proof loop: APP-0019 was expanded after author feedback, then patched in v010 without claiming complete-Bernstein/subordination.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C25058A-E663-4C9F-B0C9-B2F9A31AAAA1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0BA"/>
                </a:solidFill>
                <a:latin typeface="Aptos"/>
                <a:ea typeface="Aptos"/>
                <a:cs typeface="Aptos"/>
              </a:rPr>
              <a:t>Sources: README.md, APPLICATIONS.md, wiki/README.md, theory/latest/THEORY.pdf, public GitHub screenshot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A2C3B0-8B02-428F-AA8E-CB29ED48C0D7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67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92E4-06D9-0168-F082-DBEE3611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76F003F-3F18-02D6-1562-808EA9EFB7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6E62A31-F81D-7295-715B-F6A9E62E5462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FC06A4F-6EE4-C58B-50A6-5F4247B3D850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9350A7-ECCA-16F9-F919-9E0F1E17AB4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Examples</a:t>
            </a:r>
            <a:endParaRPr sz="360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76C84B-2FE0-2888-7395-5D269D5C24CB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950" b="1" dirty="0">
                <a:solidFill>
                  <a:srgbClr val="E35D4F"/>
                </a:solidFill>
                <a:latin typeface="Aptos Display"/>
                <a:ea typeface="Aptos Display"/>
                <a:cs typeface="Aptos Display"/>
              </a:rPr>
              <a:t>Application</a:t>
            </a:r>
            <a:endParaRPr sz="1950" b="1" dirty="0">
              <a:solidFill>
                <a:srgbClr val="E35D4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C79801-2DD9-F1EF-CC2B-E8A1C8B9A7BF}"/>
              </a:ext>
            </a:extLst>
          </p:cNvPr>
          <p:cNvSpPr>
            <a:spLocks noGrp="1"/>
          </p:cNvSpPr>
          <p:nvPr/>
        </p:nvSpPr>
        <p:spPr>
          <a:xfrm>
            <a:off x="7010400" y="2190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950" b="1" dirty="0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  <a:t>Proof</a:t>
            </a:r>
            <a:endParaRPr sz="1950" b="1" dirty="0">
              <a:solidFill>
                <a:srgbClr val="6FBF8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91EA78-3063-1453-2D0B-F2F596AC92B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Closing 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F24847-8402-1E14-C573-8E4F688F3C37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7E9BB60-0F91-D549-061D-FFC2E71C9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92" y="2635788"/>
            <a:ext cx="6094263" cy="13442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13B19C3-3CBD-CBE5-2F53-D11909424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550" y="2597688"/>
            <a:ext cx="4944199" cy="270084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35F47C9-1FEC-87E1-1738-9D06AA41785E}"/>
              </a:ext>
            </a:extLst>
          </p:cNvPr>
          <p:cNvSpPr>
            <a:spLocks noGrp="1"/>
          </p:cNvSpPr>
          <p:nvPr/>
        </p:nvSpPr>
        <p:spPr>
          <a:xfrm>
            <a:off x="8747786" y="5167790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A9E972-7068-177B-6C89-8F3ECE27A920}"/>
              </a:ext>
            </a:extLst>
          </p:cNvPr>
          <p:cNvSpPr>
            <a:spLocks noGrp="1"/>
          </p:cNvSpPr>
          <p:nvPr/>
        </p:nvSpPr>
        <p:spPr>
          <a:xfrm>
            <a:off x="8878574" y="5167790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14B812-8246-6B1B-090B-78DA7DD1B297}"/>
              </a:ext>
            </a:extLst>
          </p:cNvPr>
          <p:cNvSpPr>
            <a:spLocks noGrp="1"/>
          </p:cNvSpPr>
          <p:nvPr/>
        </p:nvSpPr>
        <p:spPr>
          <a:xfrm>
            <a:off x="9009362" y="5167789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CFCB-A720-DC12-2D10-F6B3AFDC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57171A7-822C-05DA-A6D9-299F60A6C74B}"/>
              </a:ext>
            </a:extLst>
          </p:cNvPr>
          <p:cNvSpPr>
            <a:spLocks noGrp="1"/>
          </p:cNvSpPr>
          <p:nvPr/>
        </p:nvSpPr>
        <p:spPr>
          <a:xfrm>
            <a:off x="5625" y="-6137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3DFBEF7-ECC9-085B-4776-63B6D3BF71C2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891CE4B-5656-C9C7-720F-BD8761AF182A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6DDAF-39B7-5401-C66C-BD06EF53FC1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Examples</a:t>
            </a:r>
            <a:endParaRPr sz="360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2E020-74C1-219F-735B-EAFD3D67AA93}"/>
              </a:ext>
            </a:extLst>
          </p:cNvPr>
          <p:cNvSpPr>
            <a:spLocks noGrp="1"/>
          </p:cNvSpPr>
          <p:nvPr/>
        </p:nvSpPr>
        <p:spPr>
          <a:xfrm>
            <a:off x="987020" y="2190750"/>
            <a:ext cx="280559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950" b="1" dirty="0">
                <a:solidFill>
                  <a:srgbClr val="E35D4F"/>
                </a:solidFill>
                <a:latin typeface="Aptos Display"/>
                <a:ea typeface="Aptos Display"/>
                <a:cs typeface="Aptos Display"/>
              </a:rPr>
              <a:t>Draft (Sent. 16 total)</a:t>
            </a:r>
            <a:endParaRPr sz="1950" b="1" dirty="0">
              <a:solidFill>
                <a:srgbClr val="E35D4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294B55-1B5C-9D21-A766-BEA52914CADC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Closing 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6691AA-4A24-9E00-343E-F80EACF87FFB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5FC6E-68D3-78C0-9B90-F9481463D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2581912"/>
            <a:ext cx="10549535" cy="344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54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FBFB-D118-FDD0-9691-20AF26DDF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35AFA3E-5977-84AD-B9CF-BA365E8B7B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ADEF3CC2-61AE-8112-D843-985B3A9C50E7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A094ED3-1F87-41D1-C9A9-05F77CCEE49E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5C101-0204-FF41-E24C-2DC3814E8A2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Examples</a:t>
            </a:r>
            <a:endParaRPr sz="360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0CA4AD-1268-F6A7-D14C-B6C7CCEFD68B}"/>
              </a:ext>
            </a:extLst>
          </p:cNvPr>
          <p:cNvSpPr>
            <a:spLocks noGrp="1"/>
          </p:cNvSpPr>
          <p:nvPr/>
        </p:nvSpPr>
        <p:spPr>
          <a:xfrm>
            <a:off x="933450" y="1524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950" b="1" dirty="0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  <a:t>Responses</a:t>
            </a:r>
            <a:br>
              <a:rPr lang="en-US" sz="1950" b="1" dirty="0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</a:br>
            <a:r>
              <a:rPr lang="en-US" sz="1950" b="1" dirty="0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  <a:t>(3 total)</a:t>
            </a:r>
            <a:endParaRPr sz="1950" b="1" dirty="0">
              <a:solidFill>
                <a:srgbClr val="6FBF8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BD797A-60D8-F321-937B-E490F0792941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Closing 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94394C-441C-8CAF-3429-80D66C06BFD3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401E69E-F3FA-EE43-6F8C-FB7ADB190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2323928"/>
            <a:ext cx="5724640" cy="188297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9BFCC78-F1FB-2F06-BAE8-0AD85899C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687115"/>
            <a:ext cx="7991978" cy="146536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A140F93-CFAA-A9BD-B214-CDED85BD4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146" y="4384952"/>
            <a:ext cx="8425379" cy="205394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B73A0A5-EB85-0F7E-A5E8-4A4BBCFE6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9730" y="504825"/>
            <a:ext cx="918820" cy="60887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5CF59B7-ED19-EF3C-42C0-CD068F4D1B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7185" y="2229993"/>
            <a:ext cx="1011396" cy="64403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9517C88-90E8-2C98-70EC-4211D3793D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1383" y="4175402"/>
            <a:ext cx="937680" cy="71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0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E1C5737-7FF7-4A41-BD1C-FA3111051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8F6DA4F-A546-48C4-83B7-F1E7FF807361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247650" cy="285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B023C32-E951-42A4-99C8-37EF58D5D892}"/>
              </a:ext>
            </a:extLst>
          </p:cNvPr>
          <p:cNvSpPr>
            <a:spLocks noGrp="1"/>
          </p:cNvSpPr>
          <p:nvPr/>
        </p:nvSpPr>
        <p:spPr>
          <a:xfrm>
            <a:off x="933450" y="400050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7B0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0BA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9668D-82A6-4F1D-BF79-7C9023B1629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gates for the mistakes you actually observed.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97CD8-5DC4-4A25-B160-46859E6C14FB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4762500" cy="2857500"/>
          </a:xfrm>
          <a:prstGeom prst="rect">
            <a:avLst/>
          </a:prstGeom>
          <a:solidFill>
            <a:srgbClr val="26313D"/>
          </a:solidFill>
          <a:ln w="9525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80F260-32F1-485F-B838-1D566ABD6CC5}"/>
              </a:ext>
            </a:extLst>
          </p:cNvPr>
          <p:cNvSpPr>
            <a:spLocks noGrp="1"/>
          </p:cNvSpPr>
          <p:nvPr/>
        </p:nvSpPr>
        <p:spPr>
          <a:xfrm>
            <a:off x="6705600" y="1885950"/>
            <a:ext cx="4762500" cy="2857500"/>
          </a:xfrm>
          <a:prstGeom prst="rect">
            <a:avLst/>
          </a:prstGeom>
          <a:solidFill>
            <a:srgbClr val="26313D"/>
          </a:solidFill>
          <a:ln w="9525">
            <a:solidFill>
              <a:srgbClr val="3A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B9866-EFAA-4452-ACDE-595DC96A2BD0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35D4F"/>
                </a:solidFill>
                <a:latin typeface="Aptos Display"/>
                <a:ea typeface="Aptos Display"/>
                <a:cs typeface="Aptos Display"/>
              </a:rPr>
              <a:t>Pitfalls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F4BA61-D8B0-4142-AE1C-0FDE82C11D5E}"/>
              </a:ext>
            </a:extLst>
          </p:cNvPr>
          <p:cNvSpPr>
            <a:spLocks noGrp="1"/>
          </p:cNvSpPr>
          <p:nvPr/>
        </p:nvSpPr>
        <p:spPr>
          <a:xfrm>
            <a:off x="1066800" y="28289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74A81F-043A-4EC0-A81F-2C2E8857D258}"/>
              </a:ext>
            </a:extLst>
          </p:cNvPr>
          <p:cNvSpPr>
            <a:spLocks noGrp="1"/>
          </p:cNvSpPr>
          <p:nvPr/>
        </p:nvSpPr>
        <p:spPr>
          <a:xfrm>
            <a:off x="1276350" y="2743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partial progress feels solved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34D56-E48F-4878-8694-FD6253AFD650}"/>
              </a:ext>
            </a:extLst>
          </p:cNvPr>
          <p:cNvSpPr>
            <a:spLocks noGrp="1"/>
          </p:cNvSpPr>
          <p:nvPr/>
        </p:nvSpPr>
        <p:spPr>
          <a:xfrm>
            <a:off x="1066800" y="32099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5D4B21-211A-46D9-8E17-5ED5AB45448C}"/>
              </a:ext>
            </a:extLst>
          </p:cNvPr>
          <p:cNvSpPr>
            <a:spLocks noGrp="1"/>
          </p:cNvSpPr>
          <p:nvPr/>
        </p:nvSpPr>
        <p:spPr>
          <a:xfrm>
            <a:off x="1276350" y="3124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external models sound authoritative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57EC2D-EA96-408E-8A6F-F013261BD6AF}"/>
              </a:ext>
            </a:extLst>
          </p:cNvPr>
          <p:cNvSpPr>
            <a:spLocks noGrp="1"/>
          </p:cNvSpPr>
          <p:nvPr/>
        </p:nvSpPr>
        <p:spPr>
          <a:xfrm>
            <a:off x="1066800" y="35909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F07BA-2436-4AF3-AB22-9BB2E242BA2C}"/>
              </a:ext>
            </a:extLst>
          </p:cNvPr>
          <p:cNvSpPr>
            <a:spLocks noGrp="1"/>
          </p:cNvSpPr>
          <p:nvPr/>
        </p:nvSpPr>
        <p:spPr>
          <a:xfrm>
            <a:off x="1276350" y="3505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agents stop unless done is encoded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411271-0F55-4A0D-B73B-EF8AD3238D88}"/>
              </a:ext>
            </a:extLst>
          </p:cNvPr>
          <p:cNvSpPr>
            <a:spLocks noGrp="1"/>
          </p:cNvSpPr>
          <p:nvPr/>
        </p:nvSpPr>
        <p:spPr>
          <a:xfrm>
            <a:off x="1066800" y="3971925"/>
            <a:ext cx="66675" cy="66675"/>
          </a:xfrm>
          <a:prstGeom prst="rect">
            <a:avLst/>
          </a:prstGeom>
          <a:solidFill>
            <a:srgbClr val="E35D4F"/>
          </a:solidFill>
          <a:ln w="0">
            <a:solidFill>
              <a:srgbClr val="E35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86408-610E-4F2F-98B9-917E214F1119}"/>
              </a:ext>
            </a:extLst>
          </p:cNvPr>
          <p:cNvSpPr>
            <a:spLocks noGrp="1"/>
          </p:cNvSpPr>
          <p:nvPr/>
        </p:nvSpPr>
        <p:spPr>
          <a:xfrm>
            <a:off x="1276350" y="3886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beautiful proofs still need notation and attribution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D8DA4-D2C5-42FE-8734-697DBD64554A}"/>
              </a:ext>
            </a:extLst>
          </p:cNvPr>
          <p:cNvSpPr>
            <a:spLocks noGrp="1"/>
          </p:cNvSpPr>
          <p:nvPr/>
        </p:nvSpPr>
        <p:spPr>
          <a:xfrm>
            <a:off x="7010400" y="2190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6FBF87"/>
                </a:solidFill>
                <a:latin typeface="Aptos Display"/>
                <a:ea typeface="Aptos Display"/>
                <a:cs typeface="Aptos Display"/>
              </a:rPr>
              <a:t>Practices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4B79D-72E6-4A0F-82CE-40ABEDCB0BD5}"/>
              </a:ext>
            </a:extLst>
          </p:cNvPr>
          <p:cNvSpPr>
            <a:spLocks noGrp="1"/>
          </p:cNvSpPr>
          <p:nvPr/>
        </p:nvSpPr>
        <p:spPr>
          <a:xfrm>
            <a:off x="7029450" y="2828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C6AF16-69CE-4088-82C7-C32FA220E1ED}"/>
              </a:ext>
            </a:extLst>
          </p:cNvPr>
          <p:cNvSpPr>
            <a:spLocks noGrp="1"/>
          </p:cNvSpPr>
          <p:nvPr/>
        </p:nvSpPr>
        <p:spPr>
          <a:xfrm>
            <a:off x="7239000" y="2743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treat AI coding as SPEC work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642E77-F6D0-483E-B5EA-4CD66EE27678}"/>
              </a:ext>
            </a:extLst>
          </p:cNvPr>
          <p:cNvSpPr>
            <a:spLocks noGrp="1"/>
          </p:cNvSpPr>
          <p:nvPr/>
        </p:nvSpPr>
        <p:spPr>
          <a:xfrm>
            <a:off x="7029450" y="3209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19D192-3BB0-4BD3-8262-2373467C7401}"/>
              </a:ext>
            </a:extLst>
          </p:cNvPr>
          <p:cNvSpPr>
            <a:spLocks noGrp="1"/>
          </p:cNvSpPr>
          <p:nvPr/>
        </p:nvSpPr>
        <p:spPr>
          <a:xfrm>
            <a:off x="7239000" y="3124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put authority in typed artifacts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D4B015-7892-46D4-9779-0AFED2673E12}"/>
              </a:ext>
            </a:extLst>
          </p:cNvPr>
          <p:cNvSpPr>
            <a:spLocks noGrp="1"/>
          </p:cNvSpPr>
          <p:nvPr/>
        </p:nvSpPr>
        <p:spPr>
          <a:xfrm>
            <a:off x="7029450" y="3590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FA1420-F7C7-4098-873E-68AA1A79AB1A}"/>
              </a:ext>
            </a:extLst>
          </p:cNvPr>
          <p:cNvSpPr>
            <a:spLocks noGrp="1"/>
          </p:cNvSpPr>
          <p:nvPr/>
        </p:nvSpPr>
        <p:spPr>
          <a:xfrm>
            <a:off x="7239000" y="3505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separate raw material from truth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7D8DF1-B9A9-45E6-95CD-F9E8101F3389}"/>
              </a:ext>
            </a:extLst>
          </p:cNvPr>
          <p:cNvSpPr>
            <a:spLocks noGrp="1"/>
          </p:cNvSpPr>
          <p:nvPr/>
        </p:nvSpPr>
        <p:spPr>
          <a:xfrm>
            <a:off x="7029450" y="3971925"/>
            <a:ext cx="66675" cy="66675"/>
          </a:xfrm>
          <a:prstGeom prst="rect">
            <a:avLst/>
          </a:prstGeom>
          <a:solidFill>
            <a:srgbClr val="6FBF87"/>
          </a:solidFill>
          <a:ln w="0">
            <a:solidFill>
              <a:srgbClr val="6FBF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500368-A593-4895-A365-81FA384A5F5E}"/>
              </a:ext>
            </a:extLst>
          </p:cNvPr>
          <p:cNvSpPr>
            <a:spLocks noGrp="1"/>
          </p:cNvSpPr>
          <p:nvPr/>
        </p:nvSpPr>
        <p:spPr>
          <a:xfrm>
            <a:off x="7239000" y="3886200"/>
            <a:ext cx="3505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7E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E0D6"/>
                </a:solidFill>
                <a:latin typeface="Aptos"/>
                <a:ea typeface="Aptos"/>
                <a:cs typeface="Aptos"/>
              </a:rPr>
              <a:t>make side effects explicit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8EC1B-A848-4B38-BD2B-5CE950C17C88}"/>
              </a:ext>
            </a:extLst>
          </p:cNvPr>
          <p:cNvSpPr>
            <a:spLocks noGrp="1"/>
          </p:cNvSpPr>
          <p:nvPr/>
        </p:nvSpPr>
        <p:spPr>
          <a:xfrm>
            <a:off x="876300" y="541020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8A13A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D8A13A"/>
                </a:solidFill>
                <a:latin typeface="Aptos Mono"/>
                <a:ea typeface="Aptos Mono"/>
                <a:cs typeface="Aptos Mono"/>
              </a:rPr>
              <a:t>$ Pudim turns AI from chat partner into research-and-publication runtime.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9D686A-FFD6-40EC-942D-B8E5C23B1AED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BDB3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3A7"/>
                </a:solidFill>
                <a:latin typeface="Aptos"/>
                <a:ea typeface="Aptos"/>
                <a:cs typeface="Aptos"/>
              </a:rPr>
              <a:t>Closing 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F49436-8EF5-4B19-8328-1F533A2F2DDE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3A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626931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1018</Words>
  <Application>Microsoft Office PowerPoint</Application>
  <DocSecurity>0</DocSecurity>
  <PresentationFormat>Widescreen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Domingos Salazar</cp:lastModifiedBy>
  <cp:revision>1</cp:revision>
  <dcterms:created xsi:type="dcterms:W3CDTF">2026-06-02T14:01:53Z</dcterms:created>
  <dcterms:modified xsi:type="dcterms:W3CDTF">2026-06-02T14:50:13Z</dcterms:modified>
</cp:coreProperties>
</file>