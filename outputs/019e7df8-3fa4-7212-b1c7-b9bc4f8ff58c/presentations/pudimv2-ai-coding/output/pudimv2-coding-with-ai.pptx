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f6e3db2f014f28" /><Relationship Type="http://schemas.openxmlformats.org/officeDocument/2006/relationships/extended-properties" Target="/docProps/app.xml" Id="Rdb4b2add996c4806" /><Relationship Type="http://schemas.openxmlformats.org/officeDocument/2006/relationships/officeDocument" Target="/ppt/presentation.xml" Id="R0a1edc35dff04d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7209f6909b44c8"/>
  </p:sldMasterIdLst>
  <p:notesMasterIdLst>
    <p:notesMasterId xmlns:r="http://schemas.openxmlformats.org/officeDocument/2006/relationships" r:id="R3d4356d7b1bd4849"/>
  </p:notesMasterIdLst>
  <p:sldIdLst>
    <p:sldId xmlns:r="http://schemas.openxmlformats.org/officeDocument/2006/relationships" id="256" r:id="Rb1ed4eb9dae84e0d"/>
    <p:sldId xmlns:r="http://schemas.openxmlformats.org/officeDocument/2006/relationships" id="257" r:id="R7f6d479948074c8d"/>
    <p:sldId xmlns:r="http://schemas.openxmlformats.org/officeDocument/2006/relationships" id="258" r:id="R3c6ecc22e5f1406a"/>
    <p:sldId xmlns:r="http://schemas.openxmlformats.org/officeDocument/2006/relationships" id="259" r:id="R388bd77d0e584612"/>
    <p:sldId xmlns:r="http://schemas.openxmlformats.org/officeDocument/2006/relationships" id="260" r:id="R1fef5ea1003d4539"/>
    <p:sldId xmlns:r="http://schemas.openxmlformats.org/officeDocument/2006/relationships" id="261" r:id="Rc247574b1ef242e8"/>
    <p:sldId xmlns:r="http://schemas.openxmlformats.org/officeDocument/2006/relationships" id="262" r:id="Rbe8295547da04eb7"/>
    <p:sldId xmlns:r="http://schemas.openxmlformats.org/officeDocument/2006/relationships" id="263" r:id="R986ea54be3ca4ac5"/>
    <p:sldId xmlns:r="http://schemas.openxmlformats.org/officeDocument/2006/relationships" id="264" r:id="Rfc227452216b494a"/>
    <p:sldId xmlns:r="http://schemas.openxmlformats.org/officeDocument/2006/relationships" id="265" r:id="Rc647054c7ba749b3"/>
    <p:sldId xmlns:r="http://schemas.openxmlformats.org/officeDocument/2006/relationships" id="266" r:id="R0def5b73f700480c"/>
    <p:sldId xmlns:r="http://schemas.openxmlformats.org/officeDocument/2006/relationships" id="267" r:id="Rf2acae5c232d406d"/>
    <p:sldId xmlns:r="http://schemas.openxmlformats.org/officeDocument/2006/relationships" id="268" r:id="Rbe0f830318fa419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1d77a779b04246" /><Relationship Type="http://schemas.openxmlformats.org/officeDocument/2006/relationships/slideMaster" Target="/ppt/slideMasters/slideMaster1.xml" Id="Rac7209f6909b44c8" /><Relationship Type="http://schemas.openxmlformats.org/officeDocument/2006/relationships/notesMaster" Target="/ppt/notesMasters/notesMaster1.xml" Id="R3d4356d7b1bd4849" /><Relationship Type="http://schemas.openxmlformats.org/officeDocument/2006/relationships/presProps" Target="/ppt/presProps.xml" Id="R13606033c86d489d" /><Relationship Type="http://schemas.openxmlformats.org/officeDocument/2006/relationships/viewProps" Target="/ppt/viewProps.xml" Id="R54ff65d63e3f472d" /><Relationship Type="http://schemas.openxmlformats.org/officeDocument/2006/relationships/tableStyles" Target="/ppt/tableStyles.xml" Id="Rbce8af0dfeae4902" /><Relationship Type="http://schemas.openxmlformats.org/officeDocument/2006/relationships/slide" Target="/ppt/slides/slide1.xml" Id="Rb1ed4eb9dae84e0d" /><Relationship Type="http://schemas.openxmlformats.org/officeDocument/2006/relationships/slide" Target="/ppt/slides/slide2.xml" Id="R7f6d479948074c8d" /><Relationship Type="http://schemas.openxmlformats.org/officeDocument/2006/relationships/slide" Target="/ppt/slides/slide3.xml" Id="R3c6ecc22e5f1406a" /><Relationship Type="http://schemas.openxmlformats.org/officeDocument/2006/relationships/slide" Target="/ppt/slides/slide4.xml" Id="R388bd77d0e584612" /><Relationship Type="http://schemas.openxmlformats.org/officeDocument/2006/relationships/slide" Target="/ppt/slides/slide5.xml" Id="R1fef5ea1003d4539" /><Relationship Type="http://schemas.openxmlformats.org/officeDocument/2006/relationships/slide" Target="/ppt/slides/slide6.xml" Id="Rc247574b1ef242e8" /><Relationship Type="http://schemas.openxmlformats.org/officeDocument/2006/relationships/slide" Target="/ppt/slides/slide7.xml" Id="Rbe8295547da04eb7" /><Relationship Type="http://schemas.openxmlformats.org/officeDocument/2006/relationships/slide" Target="/ppt/slides/slide8.xml" Id="R986ea54be3ca4ac5" /><Relationship Type="http://schemas.openxmlformats.org/officeDocument/2006/relationships/slide" Target="/ppt/slides/slide9.xml" Id="Rfc227452216b494a" /><Relationship Type="http://schemas.openxmlformats.org/officeDocument/2006/relationships/slide" Target="/ppt/slides/slide10.xml" Id="Rc647054c7ba749b3" /><Relationship Type="http://schemas.openxmlformats.org/officeDocument/2006/relationships/slide" Target="/ppt/slides/slide11.xml" Id="R0def5b73f700480c" /><Relationship Type="http://schemas.openxmlformats.org/officeDocument/2006/relationships/slide" Target="/ppt/slides/slide12.xml" Id="Rf2acae5c232d406d" /><Relationship Type="http://schemas.openxmlformats.org/officeDocument/2006/relationships/slide" Target="/ppt/slides/slide13.xml" Id="Rbe0f830318fa41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c95399078942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cb5744cf8340d1" /><Relationship Type="http://schemas.openxmlformats.org/officeDocument/2006/relationships/notesMaster" Target="/ppt/notesMasters/notesMaster1.xml" Id="R2d3b448e4cb345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93493fe34d426f" /><Relationship Type="http://schemas.openxmlformats.org/officeDocument/2006/relationships/notesMaster" Target="/ppt/notesMasters/notesMaster1.xml" Id="Raf7057120aef41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df73d05e9f45ae" /><Relationship Type="http://schemas.openxmlformats.org/officeDocument/2006/relationships/notesMaster" Target="/ppt/notesMasters/notesMaster1.xml" Id="R235815e5a1ec44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361f8d1a1c4a60" /><Relationship Type="http://schemas.openxmlformats.org/officeDocument/2006/relationships/notesMaster" Target="/ppt/notesMasters/notesMaster1.xml" Id="Rf31d2a572c4d40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475c4f323c46d3" /><Relationship Type="http://schemas.openxmlformats.org/officeDocument/2006/relationships/notesMaster" Target="/ppt/notesMasters/notesMaster1.xml" Id="Rca22dda645a041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837ea04e2c4d69" /><Relationship Type="http://schemas.openxmlformats.org/officeDocument/2006/relationships/notesMaster" Target="/ppt/notesMasters/notesMaster1.xml" Id="R47b4b310684247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6d0fefe7124f0d" /><Relationship Type="http://schemas.openxmlformats.org/officeDocument/2006/relationships/notesMaster" Target="/ppt/notesMasters/notesMaster1.xml" Id="R8d6fa67ae97843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22ff7123044d3a" /><Relationship Type="http://schemas.openxmlformats.org/officeDocument/2006/relationships/notesMaster" Target="/ppt/notesMasters/notesMaster1.xml" Id="R7314e670d3fa40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e99e2f9bde454f" /><Relationship Type="http://schemas.openxmlformats.org/officeDocument/2006/relationships/notesMaster" Target="/ppt/notesMasters/notesMaster1.xml" Id="Re9fd419fd30e4e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99c516945c44b3" /><Relationship Type="http://schemas.openxmlformats.org/officeDocument/2006/relationships/notesMaster" Target="/ppt/notesMasters/notesMaster1.xml" Id="R2b73e16edcd448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14f3b221c24691" /><Relationship Type="http://schemas.openxmlformats.org/officeDocument/2006/relationships/notesMaster" Target="/ppt/notesMasters/notesMaster1.xml" Id="R178bae17d10e4c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6fb57a64e1434d" /><Relationship Type="http://schemas.openxmlformats.org/officeDocument/2006/relationships/notesMaster" Target="/ppt/notesMasters/notesMaster1.xml" Id="Rd11eb9c62e0240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86436e401a46d5" /><Relationship Type="http://schemas.openxmlformats.org/officeDocument/2006/relationships/notesMaster" Target="/ppt/notesMasters/notesMaster1.xml" Id="R835f8f029f2f45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103fea80ae4d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d05167b0f74c7a" /><Relationship Type="http://schemas.openxmlformats.org/officeDocument/2006/relationships/slideLayout" Target="/ppt/slideLayouts/slideLayout1.xml" Id="R631e1617cf5c43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1e1617cf5c43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fac2726b84443" /><Relationship Type="http://schemas.openxmlformats.org/officeDocument/2006/relationships/notesSlide" Target="/ppt/notesSlides/notesSlide1.xml" Id="R77e61ca147c74b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15ea2faca4880" /><Relationship Type="http://schemas.openxmlformats.org/officeDocument/2006/relationships/notesSlide" Target="/ppt/notesSlides/notesSlide2.xml" Id="R914e54b0e5094e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3cccdfca24e62" /><Relationship Type="http://schemas.openxmlformats.org/officeDocument/2006/relationships/notesSlide" Target="/ppt/notesSlides/notesSlide3.xml" Id="R8eed013af35a44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7c54e20414c1f" /><Relationship Type="http://schemas.openxmlformats.org/officeDocument/2006/relationships/notesSlide" Target="/ppt/notesSlides/notesSlide4.xml" Id="R8d42cf6850c347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38bf3de244d3d" /><Relationship Type="http://schemas.openxmlformats.org/officeDocument/2006/relationships/notesSlide" Target="/ppt/notesSlides/notesSlide5.xml" Id="Ra9cf862bce9c47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bb24d91c64ab3" /><Relationship Type="http://schemas.openxmlformats.org/officeDocument/2006/relationships/notesSlide" Target="/ppt/notesSlides/notesSlide6.xml" Id="R574bb4f73f0e4a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a07dce6594ca8" /><Relationship Type="http://schemas.openxmlformats.org/officeDocument/2006/relationships/notesSlide" Target="/ppt/notesSlides/notesSlide7.xml" Id="Ra33b0a22ebc541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8524a0a794cc2" /><Relationship Type="http://schemas.openxmlformats.org/officeDocument/2006/relationships/notesSlide" Target="/ppt/notesSlides/notesSlide8.xml" Id="Rcfe6c7214c5f49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c781859bf4ea7" /><Relationship Type="http://schemas.openxmlformats.org/officeDocument/2006/relationships/notesSlide" Target="/ppt/notesSlides/notesSlide9.xml" Id="Rd3897de586e041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34322168f49b2" /><Relationship Type="http://schemas.openxmlformats.org/officeDocument/2006/relationships/notesSlide" Target="/ppt/notesSlides/notesSlide10.xml" Id="Rb2ea2bc35a9e45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2f1e13932490f" /><Relationship Type="http://schemas.openxmlformats.org/officeDocument/2006/relationships/notesSlide" Target="/ppt/notesSlides/notesSlide11.xml" Id="R42763790155441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4042c205e4c25" /><Relationship Type="http://schemas.openxmlformats.org/officeDocument/2006/relationships/image" Target="/ppt/media/image.png" Id="R8b2aaaa9d46e4b07" /><Relationship Type="http://schemas.openxmlformats.org/officeDocument/2006/relationships/notesSlide" Target="/ppt/notesSlides/notesSlide12.xml" Id="R876d34d416d04ab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5a98abec74410" /><Relationship Type="http://schemas.openxmlformats.org/officeDocument/2006/relationships/notesSlide" Target="/ppt/notesSlides/notesSlide13.xml" Id="R90089736fd38492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0EBD26-9381-420A-BC76-3C4D20C6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1118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C9510-0391-467F-B311-A22595D1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solidFill>
              <a:srgbClr val="E35D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8DCE5-5F70-468F-80F8-7AD015CD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B8"/>
          </a:solidFill>
          <a:ln xmlns:a="http://schemas.openxmlformats.org/drawingml/2006/main" w="0">
            <a:solidFill>
              <a:srgbClr val="19A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0B73B-D07E-4CE9-BD82-81B04BA7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8667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proof of the pudding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is in the eating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53CD0-E6B3-4CA4-8F58-CC644DFC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Pudim v2 as a case study in coding with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819E0-477F-4120-8CE5-0A0508F6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BF8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6FBF87"/>
                </a:solidFill>
                <a:latin typeface="Aptos Mono"/>
                <a:ea typeface="Aptos Mono"/>
                <a:cs typeface="Aptos Mono"/>
              </a:rPr>
              <a:t>$ pudimv2 --goal "turn a theory into a research runtime"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16680-8CEE-44BB-ABDC-F4922568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719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87"/>
          </a:solidFill>
          <a:ln xmlns:a="http://schemas.openxmlformats.org/drawingml/2006/main" w="0">
            <a:solidFill>
              <a:srgbClr val="6FBF8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3CB18-E078-4C2B-96B1-0B65EAD3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Domingos Salazar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B7E84-C4F0-4D4E-AC56-B75C8917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81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12 min talk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00308-C272-4A81-8BDA-153F8486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28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Source: user outline + Pudim v2 skill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FC9067-3244-4375-AE4E-31585BFB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B0B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A7B0BA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161985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CD27C6-1E8C-40A3-AF0F-C688AA43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CF8D605-AB33-496C-B9FD-2BC8616F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solidFill>
              <a:srgbClr val="E35D4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1CD5975-C813-40D6-8DF9-A16282D5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733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8C182-C084-4518-A21E-17325B75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Pudim is not a prompt. It is a disciplined research-and-publish runtime.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24C4D-DE67-4E4B-928C-F3F63842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A Codex skill packages process, roles, tools, schemas, and side-effect rules so a long-running mathematical task can keep state.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3F904-A5AA-4F51-8962-DD411F30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35D4F"/>
                </a:solidFill>
                <a:latin typeface="Aptos Mono"/>
                <a:ea typeface="Aptos Mono"/>
                <a:cs typeface="Aptos Mono"/>
              </a:defRPr>
            </a:pPr>
            <a:r>
              <a:rPr sz="2100" b="0">
                <a:solidFill>
                  <a:srgbClr val="E35D4F"/>
                </a:solidFill>
                <a:latin typeface="Aptos Mono"/>
                <a:ea typeface="Aptos Mono"/>
                <a:cs typeface="Aptos Mono"/>
              </a:rPr>
              <a:t>$pudimv2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EC83B-B55A-486F-95EC-D9D1FBAC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146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E2881A-18BF-4B23-A24F-ACA107FF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4795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6DAFC-40DA-47DB-92FF-60595CE1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479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B8"/>
          </a:solidFill>
          <a:ln xmlns:a="http://schemas.openxmlformats.org/drawingml/2006/main" w="0">
            <a:solidFill>
              <a:srgbClr val="19A7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694BA-85D9-4CA6-AB66-4F95D7E4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09875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Research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9DF11-AA42-4EDD-994C-B6CA70C4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76575"/>
            <a:ext cx="21717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Advisor / Student / Librarian / Scout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46F2C6-1967-4D64-A3C6-13E65DE3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146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E91705-04C9-497D-93A4-391395CD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4795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73CCCB-5429-4BB5-997B-220B0289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479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87"/>
          </a:solidFill>
          <a:ln xmlns:a="http://schemas.openxmlformats.org/drawingml/2006/main" w="0">
            <a:solidFill>
              <a:srgbClr val="6FBF8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358436-830C-4EFA-961B-673384E0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09875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Audited artifacts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A7C02B-454C-4320-9C11-75A29143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76575"/>
            <a:ext cx="21717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Wiki, Theory graph, raw logs, gates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F03090-8CB6-4679-A326-7833AD6F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146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6A6FEF-FE77-462E-A1C3-042B2809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47950"/>
            <a:ext cx="1905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732B1E-3E69-48C9-A9C8-8A910987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47950"/>
            <a:ext cx="190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A"/>
          </a:solidFill>
          <a:ln xmlns:a="http://schemas.openxmlformats.org/drawingml/2006/main" w="0">
            <a:solidFill>
              <a:srgbClr val="D8A1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0526B5-FB57-48B7-BEB0-341F741E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09875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Public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D2D7E5-25C4-455D-AB23-60AEC94D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76575"/>
            <a:ext cx="16002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PDF, GitHub ledger, Gmail drafts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EFD829-62CD-4C03-92BB-DF63FC92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27988B-8179-4B2D-B990-EA1F5729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solidFill>
              <a:srgbClr val="E35D4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53A37B-CE45-4264-BCA6-58B1C5B0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057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8E24A8-2DFF-4120-9F1C-F687B2F7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733"/>
                </a:solidFill>
                <a:latin typeface="Aptos"/>
                <a:ea typeface="Aptos"/>
                <a:cs typeface="Aptos"/>
              </a:rPr>
              <a:t>public solved applications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31B94E-D4CE-4BF9-8D67-A560FE11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8640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6A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06A63"/>
                </a:solidFill>
                <a:latin typeface="Aptos"/>
                <a:ea typeface="Aptos"/>
                <a:cs typeface="Aptos"/>
              </a:rPr>
              <a:t>current stage_v010 ledger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9CE089-8C8F-48F0-AF4B-DB965806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863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FB2256-3A7B-4D0E-A058-6D6437C3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863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B8"/>
          </a:solidFill>
          <a:ln xmlns:a="http://schemas.openxmlformats.org/drawingml/2006/main" w="0">
            <a:solidFill>
              <a:srgbClr val="19A7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40B2AD-9DA3-4961-AB25-C7674950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57750"/>
            <a:ext cx="2057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215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F0F4A0-F4ED-4218-BB9F-35F79C13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578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733"/>
                </a:solidFill>
                <a:latin typeface="Aptos"/>
                <a:ea typeface="Aptos"/>
                <a:cs typeface="Aptos"/>
              </a:rPr>
              <a:t>public wiki nodes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56BB7C-A12C-48C4-B51C-A37D22BC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8640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6A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06A63"/>
                </a:solidFill>
                <a:latin typeface="Aptos"/>
                <a:ea typeface="Aptos"/>
                <a:cs typeface="Aptos"/>
              </a:rPr>
              <a:t>stage_v006 public vault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52EAE3-EB13-4AB2-BA4A-975F03A4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863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03C4B4-6442-45E8-A347-4E1A2FAE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863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87"/>
          </a:solidFill>
          <a:ln xmlns:a="http://schemas.openxmlformats.org/drawingml/2006/main" w="0">
            <a:solidFill>
              <a:srgbClr val="6FBF8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64056F-F814-4B0A-B158-769B9670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57750"/>
            <a:ext cx="2057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37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19E877-26AC-4F8C-B5ED-AA147E5B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733"/>
                </a:solidFill>
                <a:latin typeface="Aptos"/>
                <a:ea typeface="Aptos"/>
                <a:cs typeface="Aptos"/>
              </a:rPr>
              <a:t>theory PDF pages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F44F43-8862-4683-B421-53A06DC4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48640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6A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06A63"/>
                </a:solidFill>
                <a:latin typeface="Aptos"/>
                <a:ea typeface="Aptos"/>
                <a:cs typeface="Aptos"/>
              </a:rPr>
              <a:t>THEORY_v010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240045-959F-4D9D-9190-8D501BB0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863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80EC32-8E4D-4390-BA70-0A0B1F37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863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A"/>
          </a:solidFill>
          <a:ln xmlns:a="http://schemas.openxmlformats.org/drawingml/2006/main" w="0">
            <a:solidFill>
              <a:srgbClr val="D8A13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84B89B-A48E-41C5-AB35-E3E0F93B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57750"/>
            <a:ext cx="2057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4+1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AC23F8-0432-49EC-B6B7-CC1878BF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2578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733"/>
                </a:solidFill>
                <a:latin typeface="Aptos"/>
                <a:ea typeface="Aptos"/>
                <a:cs typeface="Aptos"/>
              </a:rPr>
              <a:t>roles + Oracle connector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9C9596-BF32-4171-9A8E-45FD8590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48640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6A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06A63"/>
                </a:solidFill>
                <a:latin typeface="Aptos"/>
                <a:ea typeface="Aptos"/>
                <a:cs typeface="Aptos"/>
              </a:rPr>
              <a:t>separation of powers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F311CF-93E8-4255-8A6D-91E2DC84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28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Source: README.md, wiki/README.md, theory/latest/THEORY.pdf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AFEC4D-62CF-4ACC-A141-248352DB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B0B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A7B0BA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118810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C0EE01-32A1-4E7E-900C-A6FECC14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733"/>
          </a:solidFill>
          <a:ln xmlns:a="http://schemas.openxmlformats.org/drawingml/2006/main" w="0">
            <a:solidFill>
              <a:srgbClr val="1D2733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F0E4CDA-DACF-4243-ACA1-8216F3DC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A"/>
          </a:solidFill>
          <a:ln xmlns:a="http://schemas.openxmlformats.org/drawingml/2006/main" w="0">
            <a:solidFill>
              <a:srgbClr val="D8A13A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0140B25-E91B-4CDE-90FD-10E462CB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0BA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F1DDB-D9A6-4F73-93E8-E22C7134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657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trophy-problem lane is crowded.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E181E-020E-4DC2-A13A-DF7DBDF7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If the demo is “AI one-shots a famous problem,” you are competing with frontier labs, public trackers, and viral open-problem wins.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8067E-1FA6-4CCC-AFAB-B620DC60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333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D"/>
          </a:solidFill>
          <a:ln xmlns:a="http://schemas.openxmlformats.org/drawingml/2006/main" w="9525">
            <a:solidFill>
              <a:srgbClr val="48546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EBEA8-F0B9-4C16-BFE2-14D7753F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solidFill>
              <a:srgbClr val="E35D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73443-7356-46E0-80F8-25FEEB42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95675"/>
            <a:ext cx="2028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Erdos-style wins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948A7F-CEF1-4801-B1EF-375E28EE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2375"/>
            <a:ext cx="20288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Amateur and assisted proofs are becoming public examples, not private fantasies.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BFBB9F-16FD-49E0-8525-AB5B00B6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62375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A7B0B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1778A-58A3-4951-8514-6B6CCCAB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33750"/>
            <a:ext cx="2333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D"/>
          </a:solidFill>
          <a:ln xmlns:a="http://schemas.openxmlformats.org/drawingml/2006/main" w="9525">
            <a:solidFill>
              <a:srgbClr val="48546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6E9C3-AF99-40CE-BA13-6392CF0E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3375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B8"/>
          </a:solidFill>
          <a:ln xmlns:a="http://schemas.openxmlformats.org/drawingml/2006/main" w="0">
            <a:solidFill>
              <a:srgbClr val="19A7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E7B4A-8DED-4C15-AE5F-897F0C5F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95675"/>
            <a:ext cx="2028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Frontier labs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08E6C-4A4C-4DD6-A761-C588A391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62375"/>
            <a:ext cx="20288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Research-grade systems increasingly target named open math problems.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C9A96F-1A94-4C3C-8894-C560AE53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62375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A7B0B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D95FDB-5F66-431E-9289-5761C012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33750"/>
            <a:ext cx="2333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D"/>
          </a:solidFill>
          <a:ln xmlns:a="http://schemas.openxmlformats.org/drawingml/2006/main" w="9525">
            <a:solidFill>
              <a:srgbClr val="48546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70796B-8CAB-4AE7-BCD1-D249B07D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3375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87"/>
          </a:solidFill>
          <a:ln xmlns:a="http://schemas.openxmlformats.org/drawingml/2006/main" w="0">
            <a:solidFill>
              <a:srgbClr val="6FBF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DA1C6C-FDB4-4191-BB72-37AADA21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95675"/>
            <a:ext cx="2028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Community trackers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CA1AEE-277E-4C91-9FB6-267D2A6B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62375"/>
            <a:ext cx="20288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Solved-problem repositories make the frontier visible and fast-moving.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8C13E5-1165-4FBA-BB8E-6DE39B62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62375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A7B0B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A52951-53B6-423E-BD58-1DB354E2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D"/>
          </a:solidFill>
          <a:ln xmlns:a="http://schemas.openxmlformats.org/drawingml/2006/main" w="9525">
            <a:solidFill>
              <a:srgbClr val="48546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A51ED7-02A3-4298-B020-D96C3DCA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A"/>
          </a:solidFill>
          <a:ln xmlns:a="http://schemas.openxmlformats.org/drawingml/2006/main" w="0">
            <a:solidFill>
              <a:srgbClr val="D8A1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23511B-538D-49C3-9DE1-88404527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95675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Higher bar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DB231F-0CF4-48A8-9D29-86AFA002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62375"/>
            <a:ext cx="17907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One-shotting famous lists is less differentiated than building repeatable process.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902C38-F148-4AF4-AE58-803FB908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695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Talk note: examples should be cited or softened in the live version if used as news claims.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59CF9D-57A0-4041-B63A-A8D343BF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28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3A7"/>
                </a:solidFill>
                <a:latin typeface="Aptos"/>
                <a:ea typeface="Aptos"/>
                <a:cs typeface="Aptos"/>
              </a:rPr>
              <a:t>Context slide: user outline; exact examples should be source-checked before public reuse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1A888F-898F-4A20-98EA-2CCCD244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6667918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7F72D5-B47E-48B6-B3AC-A3D6C674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CC4B27C-5AEE-4208-B041-41885D5F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solidFill>
              <a:srgbClr val="E35D4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D214FCB-F009-4AF0-A31C-0F2A0E0A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733"/>
                </a:solidFill>
                <a:latin typeface="Aptos"/>
                <a:ea typeface="Aptos"/>
                <a:cs typeface="Aptos"/>
              </a:rPr>
              <a:t>STRATEGY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6B525-8242-4420-81B6-235FED57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620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Under HTC, build a theory first,</a:t>
            </a:r>
          </a:p>
          <a:p xmlns:a="http://schemas.openxmlformats.org/drawingml/2006/main">
            <a:pPr algn="l">
              <a:defRPr sz="31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then search for digestible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B7621-4150-461C-AD36-CAEDEA0E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HTC = High Tropicality Conditions: assume a small token budget and a very competitive public frontier.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CEEBA-411A-4016-89FF-6AB6311B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239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0E148-3419-405B-9562-7F4FE107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239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A"/>
          </a:solidFill>
          <a:ln xmlns:a="http://schemas.openxmlformats.org/drawingml/2006/main" w="0">
            <a:solidFill>
              <a:srgbClr val="D8A1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D423F-9A1E-463E-9FE2-3ED3A89D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295400"/>
            <a:ext cx="1771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$100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4C64A-283B-494E-8F6D-85D27A6D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9545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733"/>
                </a:solidFill>
                <a:latin typeface="Aptos"/>
                <a:ea typeface="Aptos"/>
                <a:cs typeface="Aptos"/>
              </a:rPr>
              <a:t>token budget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71EFC-F620-48C4-8222-705F3886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2405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6A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06A63"/>
                </a:solidFill>
                <a:latin typeface="Aptos"/>
                <a:ea typeface="Aptos"/>
                <a:cs typeface="Aptos"/>
              </a:rPr>
              <a:t>scarcity forces process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E31B2-16C4-4F82-BCFC-41903084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6522BA-21AA-41E6-AA9C-11CE002D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B8"/>
          </a:solidFill>
          <a:ln xmlns:a="http://schemas.openxmlformats.org/drawingml/2006/main" w="0">
            <a:solidFill>
              <a:srgbClr val="19A7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C0CE1D-B8AD-4BAE-877D-F6A68CE8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05175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Start with an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B2559-AC9B-4D59-8A47-C8BA8697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71875"/>
            <a:ext cx="21717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zeta-law / gamma curvature / positivity calculus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F2A87-8ADB-4970-A8BD-6EEF34A2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6235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12E4E9-1D40-41FD-9B01-4E2FE450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432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944723-B9DA-493E-A1CD-5A30FF4A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432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87"/>
          </a:solidFill>
          <a:ln xmlns:a="http://schemas.openxmlformats.org/drawingml/2006/main" w="0">
            <a:solidFill>
              <a:srgbClr val="6FBF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B8B361-0DF0-44D4-9A4D-C428F5D5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05175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Forage the web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AD52B9-DA32-438A-B196-F2A7C21E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571875"/>
            <a:ext cx="21717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find source-open problems that match the current tools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9CE43D-8679-4052-AD23-56D39227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235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093841-F709-480E-B592-822B9ACA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432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5D868F-9F0C-4719-95D7-FF9AA178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432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solidFill>
              <a:srgbClr val="E35D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EECF3D-55B1-4B08-8D4B-3A48BFFB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05175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Attack locally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6E8365-B206-4E8B-9233-39C595F9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1875"/>
            <a:ext cx="21717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prove, refute, or leave open with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4FB022-E33F-4477-9C32-34ADC77C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6235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735C68-F615-4B06-9055-B2D7EC1C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4325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339D7F-BFA8-4DAC-A1CA-5FD1548B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432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A"/>
          </a:solidFill>
          <a:ln xmlns:a="http://schemas.openxmlformats.org/drawingml/2006/main" w="0">
            <a:solidFill>
              <a:srgbClr val="D8A1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466A9E-86E2-4826-8521-A3EAC134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30517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Stage only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58A268-C81F-420B-98DE-1845E23A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571875"/>
            <a:ext cx="15049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publish audited applications, not raw ambition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ADA55C-0EC8-4717-9AEA-88BEB0FC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The inversion is the point: not “pick Erdős, then pray”; instead, “grow a theory, then let Scout/Oracle find where it bites.”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45CBC1-0AD3-4403-9C8F-28C8A32B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28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3A7"/>
                </a:solidFill>
                <a:latin typeface="Aptos"/>
                <a:ea typeface="Aptos"/>
                <a:cs typeface="Aptos"/>
              </a:rPr>
              <a:t>Pudim v2 / coding with AI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06C998-70D2-4CA3-9A20-87A8C380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969615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A3E964-A627-4089-B12F-A76AF253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111820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990541C-BD50-4A8F-AA4C-B8971BC9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solidFill>
              <a:srgbClr val="E35D4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2A8F981-07AB-47C6-AFBB-6DF48F93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0BA"/>
                </a:solidFill>
                <a:latin typeface="Aptos"/>
                <a:ea typeface="Aptos"/>
                <a:cs typeface="Aptos"/>
              </a:rPr>
              <a:t>MENTAL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24E36-EFD5-41A0-B7E3-CC8AC9A2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1915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skill is a SPEC, not one clever prompt.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AF13F-A0F2-4C8F-86FF-DCA22F12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4762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D"/>
          </a:solidFill>
          <a:ln xmlns:a="http://schemas.openxmlformats.org/drawingml/2006/main" w="9525">
            <a:solidFill>
              <a:srgbClr val="3A46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75D68-0C10-484D-8216-14759D0C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762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D"/>
          </a:solidFill>
          <a:ln xmlns:a="http://schemas.openxmlformats.org/drawingml/2006/main" w="9525">
            <a:solidFill>
              <a:srgbClr val="3A46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F9EC8-121C-4232-8447-FD47A98E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05050"/>
            <a:ext cx="381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Typical AI coding 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68528-73AA-49C4-A9B1-C3329C94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3905250" cy="11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3"/>
          </a:solidFill>
          <a:ln xmlns:a="http://schemas.openxmlformats.org/drawingml/2006/main" w="0">
            <a:solidFill>
              <a:srgbClr val="3A46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D1028-1ABC-47C5-A468-E7EF73C6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71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solidFill>
              <a:srgbClr val="E35D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8E645-6ADB-4D57-9D3B-4E7B3E2F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86100"/>
            <a:ext cx="3600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Ask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8CCF8-2570-43C6-B3FA-B9A4DF05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33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solidFill>
              <a:srgbClr val="E35D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BDB549-EBE1-4E79-9CCE-CA888004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48050"/>
            <a:ext cx="3600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Get 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B22FE-A26D-4565-8998-2110F1AB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95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solidFill>
              <a:srgbClr val="E35D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6AA5E-AD70-4A6F-843A-78C2474B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10000"/>
            <a:ext cx="3600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Fix obvious bugs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DF35C-4534-46D7-AD2B-3C6279E8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57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solidFill>
              <a:srgbClr val="E35D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EBC8D1-62EE-47BE-ADD5-D721050A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71950"/>
            <a:ext cx="3600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Hope context survives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C3B5CA-BF0A-49D5-ADF1-77EAB53D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05050"/>
            <a:ext cx="381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Pudim v2 story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52BD92-5D61-4FD2-BEBD-E8438A04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81300"/>
            <a:ext cx="3905250" cy="11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3"/>
          </a:solidFill>
          <a:ln xmlns:a="http://schemas.openxmlformats.org/drawingml/2006/main" w="0">
            <a:solidFill>
              <a:srgbClr val="3A46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9F9794-1797-4E51-A9CE-9A094037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71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B8"/>
          </a:solidFill>
          <a:ln xmlns:a="http://schemas.openxmlformats.org/drawingml/2006/main" w="0">
            <a:solidFill>
              <a:srgbClr val="19A7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3CAAF9-ECF8-4EF6-95D6-55894F3E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86100"/>
            <a:ext cx="3600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Encode roles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3C5C01-CB61-4DD8-B6DA-A745E720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33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B8"/>
          </a:solidFill>
          <a:ln xmlns:a="http://schemas.openxmlformats.org/drawingml/2006/main" w="0">
            <a:solidFill>
              <a:srgbClr val="19A7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011043-26FE-4AC3-8711-5DC4068F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48050"/>
            <a:ext cx="3600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Persist artifacts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E6E824-6FF4-4FF0-B67E-2FA945FE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95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B8"/>
          </a:solidFill>
          <a:ln xmlns:a="http://schemas.openxmlformats.org/drawingml/2006/main" w="0">
            <a:solidFill>
              <a:srgbClr val="19A7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B870B3-D770-4355-9CA2-D37433E0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10000"/>
            <a:ext cx="3600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Gate authority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11EF4B-B672-4103-8416-B2ED4837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57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B8"/>
          </a:solidFill>
          <a:ln xmlns:a="http://schemas.openxmlformats.org/drawingml/2006/main" w="0">
            <a:solidFill>
              <a:srgbClr val="19A7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2DC26D-9C55-46BA-9B3A-319C9723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71950"/>
            <a:ext cx="3600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Audit before publish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E58D8A-5745-4B19-A6DD-59A7C3A4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62600"/>
            <a:ext cx="885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answer matters. The system around the answer matters more.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56F583-79DE-492E-A521-FE016FD6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28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Source: Pudim v2 skill contract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CB0155-87AD-4957-B25D-42673C2A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B0B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A7B0BA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184934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F4A49D-AF65-48EC-93ED-1BA09ADD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6B655C8-E9E3-43CD-AFDF-84C3C079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solidFill>
              <a:srgbClr val="E35D4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C76A719-CE77-4FE2-B2C2-A688B735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733"/>
                </a:solidFill>
                <a:latin typeface="Aptos"/>
                <a:ea typeface="Aptos"/>
                <a:cs typeface="Aptos"/>
              </a:rPr>
              <a:t>BACKBONE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79FA0-2FC2-44F5-BC0F-39FF0837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Separation of powers keeps the research loop honest.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6AC14-8E90-4D18-8250-F5712924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2000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5D6C2-F3F7-4E0E-9140-A0917768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solidFill>
              <a:srgbClr val="E35D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46DBE-645C-4C8B-A7EF-1AAFA72F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Advisor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7870F0-05FD-4E8B-AF06-6F103021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95575"/>
            <a:ext cx="16954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strategy, active open node,</a:t>
            </a:r>
          </a:p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3 attack plans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B25AC-2142-4DA5-A0FE-AE75A7A7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479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8A59F-A1DE-4A9F-8AE0-32C07EE7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66950"/>
            <a:ext cx="2190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B1302-61BF-4A76-A7BF-A54CC8C7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669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87"/>
          </a:solidFill>
          <a:ln xmlns:a="http://schemas.openxmlformats.org/drawingml/2006/main" w="0">
            <a:solidFill>
              <a:srgbClr val="6FBF8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AD9EE-41AD-4A06-BA0B-C7E2438C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28875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Librarian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0E405-82BA-4EFF-A2C5-A322DC31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95575"/>
            <a:ext cx="18859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truth graph, Wiki health,</a:t>
            </a:r>
          </a:p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propagation, pruning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C8F5DF-CBA1-475A-9652-5FF1067E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479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72E6DB-08AD-4420-9FE0-6D06B0E0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2000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FDBE00-03F7-470B-95BB-91D5BF16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B8"/>
          </a:solidFill>
          <a:ln xmlns:a="http://schemas.openxmlformats.org/drawingml/2006/main" w="0">
            <a:solidFill>
              <a:srgbClr val="19A7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6E3E03-B7E2-4E4D-8FDE-D02C2D53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2887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Student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BB2EB-C8FF-416F-8B8A-5C333318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5575"/>
            <a:ext cx="16954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proof execution,</a:t>
            </a:r>
          </a:p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raw proof logs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A263A1-6115-4B2B-B4C2-8544CB36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479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80E45B-2A0F-481F-8B0D-829B7799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66950"/>
            <a:ext cx="2190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215F67-3F69-4676-B7C6-61E1F821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669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87"/>
          </a:solidFill>
          <a:ln xmlns:a="http://schemas.openxmlformats.org/drawingml/2006/main" w="0">
            <a:solidFill>
              <a:srgbClr val="6FBF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3A8116-9A8F-45AF-B5E9-AF375EF7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28875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Librarian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1B2F1A-7226-45DF-B6B7-22BC78F2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95575"/>
            <a:ext cx="18859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admit true/open,</a:t>
            </a:r>
          </a:p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stop contradictions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EFF4C0-743A-4F7A-8FAB-69E69362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479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0C0DE5-1DA8-4CD4-8402-ED78759C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91000"/>
            <a:ext cx="2286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341B5D-D6F2-423C-8F05-A829A7A2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910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A"/>
          </a:solidFill>
          <a:ln xmlns:a="http://schemas.openxmlformats.org/drawingml/2006/main" w="0">
            <a:solidFill>
              <a:srgbClr val="D8A1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7FC18D-047F-4C43-B679-92805B8C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52925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Scout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636AD9-4905-4818-A565-C5E3223C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19625"/>
            <a:ext cx="1981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source status, prior art,</a:t>
            </a:r>
          </a:p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terminology, candidates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7A3630-3E81-465E-BA0B-53AD4900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481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55D9C5-640A-42EF-9F91-F3438568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2286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890B6F-50A8-47B7-B8F5-BFB05C48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FD8"/>
          </a:solidFill>
          <a:ln xmlns:a="http://schemas.openxmlformats.org/drawingml/2006/main" w="0">
            <a:solidFill>
              <a:srgbClr val="7D6F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9F91C0-26BB-43B0-98DB-599B24C0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52925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Oracle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A5BCB3-621F-48BD-925F-94686D2B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19625"/>
            <a:ext cx="1981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external ChatGPT</a:t>
            </a:r>
          </a:p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advisory connector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247CE7-276C-41CA-96E3-FEF096B5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481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6A8646-7BFE-46A1-AEC3-D374B55A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Oracle is intentionally outside the canonical roles: it suggests, but cannot certify.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54030F-0625-4F84-BEBC-72DA046C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28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3A7"/>
                </a:solidFill>
                <a:latin typeface="Aptos"/>
                <a:ea typeface="Aptos"/>
                <a:cs typeface="Aptos"/>
              </a:rPr>
              <a:t>Figure: Advisor -&gt; Librarian -&gt; Student -&gt; Librarian -&gt; Advisor; Scout/Oracle are bounded helpers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50A6B7-1524-4FD4-A6DC-24A26D76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0438910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7B5106-7534-42E6-AFB4-CEA03DF7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C74A26B-3A82-4A43-B3E4-E93DDC9B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solidFill>
              <a:srgbClr val="E35D4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7AE7C4D-94B0-423A-ADB4-FC765BB5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733"/>
                </a:solidFill>
                <a:latin typeface="Aptos"/>
                <a:ea typeface="Aptos"/>
                <a:cs typeface="Aptos"/>
              </a:rPr>
              <a:t>MAIN OBJECTS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96BC4-5FAB-4345-8244-079ACE7E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810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Wiki stores memory. Theory stores truth.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3DEAC-FB7F-4C6A-94B3-24C53C0A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47625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AA0C8-EE01-436B-9F9F-4EDFBA7A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90700"/>
            <a:ext cx="47625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D970D-72ED-479E-8A49-766FADAB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Wiki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39758C-4296-4AA7-A5DA-84FF47F9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28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A"/>
          </a:solidFill>
          <a:ln xmlns:a="http://schemas.openxmlformats.org/drawingml/2006/main" w="0">
            <a:solidFill>
              <a:srgbClr val="D8A1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4E090-45C7-41DB-816D-0FD26D0D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43200"/>
            <a:ext cx="3409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definitions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C65CB-19CE-4AF5-B8AC-D83CD831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9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A"/>
          </a:solidFill>
          <a:ln xmlns:a="http://schemas.openxmlformats.org/drawingml/2006/main" w="0">
            <a:solidFill>
              <a:srgbClr val="D8A1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07FC03-33EE-410A-B254-F85B1650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24200"/>
            <a:ext cx="3409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source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2545E1-66E9-48AE-AD4B-8BFC7B9D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90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A"/>
          </a:solidFill>
          <a:ln xmlns:a="http://schemas.openxmlformats.org/drawingml/2006/main" w="0">
            <a:solidFill>
              <a:srgbClr val="D8A1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E7609F-78BA-461C-B425-89C82277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05200"/>
            <a:ext cx="3409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failed attempts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DCBE5D-9298-49BB-8BA5-BEED8233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71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A"/>
          </a:solidFill>
          <a:ln xmlns:a="http://schemas.openxmlformats.org/drawingml/2006/main" w="0">
            <a:solidFill>
              <a:srgbClr val="D8A1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C5507-D4B4-4F80-99DD-7FAB2C6B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86200"/>
            <a:ext cx="3409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raw Oracle responses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0203C-9F0D-4B25-BAE2-8EED757A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52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A"/>
          </a:solidFill>
          <a:ln xmlns:a="http://schemas.openxmlformats.org/drawingml/2006/main" w="0">
            <a:solidFill>
              <a:srgbClr val="D8A1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1661F3-3584-4112-80D4-76BEB321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67200"/>
            <a:ext cx="3409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proof logs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43F40A-55CF-43A9-9834-A4445A37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336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Theory graph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BBCA5B-B22F-4738-B2CA-DFFC7241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28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87"/>
          </a:solidFill>
          <a:ln xmlns:a="http://schemas.openxmlformats.org/drawingml/2006/main" w="0">
            <a:solidFill>
              <a:srgbClr val="6FBF8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82BD67-6ACB-428F-AE39-CFB9ADE9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43200"/>
            <a:ext cx="3695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statements 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FADFF-B03F-478C-8BB2-E099366B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09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87"/>
          </a:solidFill>
          <a:ln xmlns:a="http://schemas.openxmlformats.org/drawingml/2006/main" w="0">
            <a:solidFill>
              <a:srgbClr val="6FBF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81273C-354F-4D7F-9912-05EA25DF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24200"/>
            <a:ext cx="3695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status is true or open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56D83B-1FF6-4002-AB6A-B50D6C2D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90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87"/>
          </a:solidFill>
          <a:ln xmlns:a="http://schemas.openxmlformats.org/drawingml/2006/main" w="0">
            <a:solidFill>
              <a:srgbClr val="6FBF8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0A2E30-C7E9-4CCE-9E23-625B01D0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05200"/>
            <a:ext cx="3695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no false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098627-DC8D-47DA-9450-14903EF7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71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87"/>
          </a:solidFill>
          <a:ln xmlns:a="http://schemas.openxmlformats.org/drawingml/2006/main" w="0">
            <a:solidFill>
              <a:srgbClr val="6FBF8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ACC827-2031-4563-BD1E-AEAE906E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86200"/>
            <a:ext cx="3695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truth propagates along edges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8E5850-E5C5-4333-9907-B66FF6A3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43400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301B92-CE3F-422C-9819-E6DB3962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43400"/>
            <a:ext cx="1257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B8"/>
          </a:solidFill>
          <a:ln xmlns:a="http://schemas.openxmlformats.org/drawingml/2006/main" w="0">
            <a:solidFill>
              <a:srgbClr val="19A7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B0BF5E-EBBA-422A-A78D-5DC90B6E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0532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1184F7-20B9-4580-9BF8-D9847F28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720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candidate statement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1D9FBD-A8E6-45F8-896B-C662DF98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95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291216-59E5-46C3-A2AC-210E2EAE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43400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49AFEB-4AE2-42E6-AE94-3F5BFA06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43400"/>
            <a:ext cx="1257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solidFill>
              <a:srgbClr val="E35D4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8C48DC-503E-489B-922D-6BC254C4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0532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1EDA9A-332F-420B-A6B0-9CA55D12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720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source problem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D6201B-6E51-4E81-817E-0BDA02E0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5785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35D4F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35D4F"/>
                </a:solidFill>
                <a:latin typeface="Aptos Mono"/>
                <a:ea typeface="Aptos Mono"/>
                <a:cs typeface="Aptos Mono"/>
              </a:rPr>
              <a:t>not(P) is a true negation, not a false node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FCE34C-053F-4B98-B7F2-D4A79746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657850"/>
            <a:ext cx="400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This is the discipline: keep messy research memory rich, but keep canonical truth sparse.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61A8AD-4E75-4C94-8218-3514D55D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28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Source: Pudim v2 Wiki/Theory spec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0CCC4B-37B7-4A11-A53B-EC65D33A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B0B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A7B0BA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0134716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C16641-F6E8-4871-ABE2-0EC18391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733"/>
          </a:solidFill>
          <a:ln xmlns:a="http://schemas.openxmlformats.org/drawingml/2006/main" w="0">
            <a:solidFill>
              <a:srgbClr val="1D2733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6E1AD85-5BF3-4746-BFD3-9B71DE9F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B8"/>
          </a:solidFill>
          <a:ln xmlns:a="http://schemas.openxmlformats.org/drawingml/2006/main" w="0">
            <a:solidFill>
              <a:srgbClr val="19A7B8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4CD4DAA-E873-4403-97A7-D59CA82E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0BA"/>
                </a:solidFill>
                <a:latin typeface="Aptos"/>
                <a:ea typeface="Aptos"/>
                <a:cs typeface="Aptos"/>
              </a:rPr>
              <a:t>ATTACK PLANS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67896-C051-4DAD-9BD4-D9048C8D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agent avoids random wandering by making routes explicit.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1A2F9-A34D-42BF-A1D0-98B26008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For an open source statement S, Advisor creates exactly three candidates by default.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2D36C-5F5F-480E-ABD6-EA57E706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D"/>
          </a:solidFill>
          <a:ln xmlns:a="http://schemas.openxmlformats.org/drawingml/2006/main" w="9525">
            <a:solidFill>
              <a:srgbClr val="48546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C7B3C-60D5-47CD-B134-8FEB6FE6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A"/>
          </a:solidFill>
          <a:ln xmlns:a="http://schemas.openxmlformats.org/drawingml/2006/main" w="0">
            <a:solidFill>
              <a:srgbClr val="D8A1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E7E69-1D35-4EFB-932A-DE72C1E4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14625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6D27B-38B0-41AC-ACA8-4689077B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2171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equivalent or near-equivalent reformulation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BF627-D495-4DF4-A529-2ABA8A61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52700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D"/>
          </a:solidFill>
          <a:ln xmlns:a="http://schemas.openxmlformats.org/drawingml/2006/main" w="9525">
            <a:solidFill>
              <a:srgbClr val="48546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8EC087-8B38-4005-904C-62BB588F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527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solidFill>
              <a:srgbClr val="E35D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EABE2-0919-41ED-88FB-9B07C2DB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stronger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90D8B-AD13-4402-B927-7FE02981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81325"/>
            <a:ext cx="2171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prove P where P implies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891E6E-3725-4B0B-9762-EF35635C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52700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D"/>
          </a:solidFill>
          <a:ln xmlns:a="http://schemas.openxmlformats.org/drawingml/2006/main" w="9525">
            <a:solidFill>
              <a:srgbClr val="4854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B302C7-0755-404C-A5AB-7EF5D39F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527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B8"/>
          </a:solidFill>
          <a:ln xmlns:a="http://schemas.openxmlformats.org/drawingml/2006/main" w="0">
            <a:solidFill>
              <a:srgbClr val="19A7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171323-4E6C-467D-83F9-6489C74D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14625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mixed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5E7389-B870-4010-962A-28B61CC7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81325"/>
            <a:ext cx="2171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wider formulation plus a higher-risk strengthening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F46573-81EA-4851-8CAB-6698FAE2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52700"/>
            <a:ext cx="152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D"/>
          </a:solidFill>
          <a:ln xmlns:a="http://schemas.openxmlformats.org/drawingml/2006/main" w="9525">
            <a:solidFill>
              <a:srgbClr val="48546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F251A3-77C2-4B70-84C7-C03DCA95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527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87"/>
          </a:solidFill>
          <a:ln xmlns:a="http://schemas.openxmlformats.org/drawingml/2006/main" w="0">
            <a:solidFill>
              <a:srgbClr val="6FBF8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FB22E6-FECB-4672-8F91-967E6904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14625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 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39C3A0-D515-4A85-B97C-49BDA8B4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81325"/>
            <a:ext cx="12192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truth target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407FB9-776E-4706-8097-71776071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1465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A7B0B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A4261F-1C17-4BF4-A156-2715011B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1465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A7B0B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E07331-62BB-4EDB-93E3-720891C7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1465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A7B0B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EDA3B3-D4B5-42C2-BBF0-334E5B88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95800"/>
            <a:ext cx="8382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3A465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C8EF5F-E779-496E-9D4A-640D7656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434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FBF87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6FBF87"/>
                </a:solidFill>
                <a:latin typeface="Aptos Mono"/>
                <a:ea typeface="Aptos Mono"/>
                <a:cs typeface="Aptos Mono"/>
              </a:rPr>
              <a:t>overshoot relaxation:  O  -&gt;  R  -&gt;  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25E56C-5E6D-4D42-81AB-38CD241C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95825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If the old sufficient route O is too strong, try R: weaker than O, still strong enough for 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301086-96A5-4B11-BEEC-66D5B27D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28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Source: Pudim v2 attack-plans spec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CDB5B7-F35A-47BE-97A9-EF74C759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B0B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A7B0BA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1554043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E406B8-B383-468F-A8D4-326C2099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E8491B5-64BB-4F99-A02B-06F18C05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solidFill>
              <a:srgbClr val="E35D4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E462996-5B19-4F5E-A9AD-B202D2B5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733"/>
                </a:solidFill>
                <a:latin typeface="Aptos"/>
                <a:ea typeface="Aptos"/>
                <a:cs typeface="Aptos"/>
              </a:rPr>
              <a:t>ORACLE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FD669-E789-431A-826E-633EE3D9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85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External ChatGPT expands perspective without getting authority.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FEFEB-95BF-48BC-A738-83A2F86E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D9871-8810-4272-9E68-F405F9C8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B8"/>
          </a:solidFill>
          <a:ln xmlns:a="http://schemas.openxmlformats.org/drawingml/2006/main" w="0">
            <a:solidFill>
              <a:srgbClr val="19A7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BA3DE-0522-414E-B54D-988AE5EF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3842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Student / Scout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3D132-495E-47D8-B98A-3FA059AA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05125"/>
            <a:ext cx="16954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prepared request</a:t>
            </a:r>
          </a:p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curated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D779A-30F3-40B0-BEA7-E7891E3A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384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4AB4E-4785-4D12-BC06-DCE5A1E5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86000"/>
            <a:ext cx="23812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F09B99-A254-4419-A65B-80C3618E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860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FD8"/>
          </a:solidFill>
          <a:ln xmlns:a="http://schemas.openxmlformats.org/drawingml/2006/main" w="0">
            <a:solidFill>
              <a:srgbClr val="7D6F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0E985-7B7A-4B52-82B3-E11D64EE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47925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Oracle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B9DA9-D14D-446E-874D-5B0A2D98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14625"/>
            <a:ext cx="20764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@steipete/oracle</a:t>
            </a:r>
          </a:p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browser-mode ChatGPT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DCF5B-0EEB-4240-8E21-EBB9340B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0630CA-42D4-444E-84F3-9C82CB6A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7650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A7790C-8B47-4315-A50C-BCC671FF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765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A"/>
          </a:solidFill>
          <a:ln xmlns:a="http://schemas.openxmlformats.org/drawingml/2006/main" w="0">
            <a:solidFill>
              <a:srgbClr val="D8A1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387EF4-3C01-4781-8156-0042F748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3842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Raw 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562EE6-B8FB-4A05-A7C3-93EA317F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05125"/>
            <a:ext cx="16954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proof attempts</a:t>
            </a:r>
          </a:p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obstructions</a:t>
            </a:r>
          </a:p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next moves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09D375-D0AF-45A3-AC93-62BA5F85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384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C094C6-F0CF-4A36-956C-80E8AC75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86000"/>
            <a:ext cx="20002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B8F125-B710-4565-9F8C-6E97D225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860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87"/>
          </a:solidFill>
          <a:ln xmlns:a="http://schemas.openxmlformats.org/drawingml/2006/main" w="0">
            <a:solidFill>
              <a:srgbClr val="6FBF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3EAB10-EE9A-40D4-AD60-EDE90848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4792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Local audit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E0C509-63AC-4A31-B91A-8684DBF0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14625"/>
            <a:ext cx="16954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Student + Librarian</a:t>
            </a:r>
          </a:p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certify or reject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CC8B6E-5BE0-4AE0-B36D-41857835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81500"/>
            <a:ext cx="4762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7BE4A6-50F3-48E5-A83F-8B0752CC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291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FBF8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6FBF87"/>
                </a:solidFill>
                <a:latin typeface="Aptos Display"/>
                <a:ea typeface="Aptos Display"/>
                <a:cs typeface="Aptos Display"/>
              </a:rPr>
              <a:t>Allowed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E17D23-E53F-4A57-9C8C-27156974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95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87"/>
          </a:solidFill>
          <a:ln xmlns:a="http://schemas.openxmlformats.org/drawingml/2006/main" w="0">
            <a:solidFill>
              <a:srgbClr val="6FBF8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492437-8C75-43EB-95B5-17907CAC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1015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suggest routes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AC97A7-D41B-45E7-99E1-849FF564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24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87"/>
          </a:solidFill>
          <a:ln xmlns:a="http://schemas.openxmlformats.org/drawingml/2006/main" w="0">
            <a:solidFill>
              <a:srgbClr val="6FBF8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9D653D-86FB-493A-A9FF-5EB99C61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surface obstructions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8E5750-E48C-4061-944B-DB8E2122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87"/>
          </a:solidFill>
          <a:ln xmlns:a="http://schemas.openxmlformats.org/drawingml/2006/main" w="0">
            <a:solidFill>
              <a:srgbClr val="6FBF8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7274D2-DC65-4537-BFF8-9708DE14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6735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propose candidates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1777BA-A4A4-45D2-9E78-C0F7ABEE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81500"/>
            <a:ext cx="4762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A91CED-92BB-435C-A56F-FB263FD0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291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35D4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35D4F"/>
                </a:solidFill>
                <a:latin typeface="Aptos Display"/>
                <a:ea typeface="Aptos Display"/>
                <a:cs typeface="Aptos Display"/>
              </a:rPr>
              <a:t>Forbidden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9EC15D-08A2-4F40-9E36-31A0051C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95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solidFill>
              <a:srgbClr val="E35D4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4AA917-A983-45B3-8C06-1BEF1AC5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1015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edit Theory directly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A62007-F83A-4DE7-AE82-22BBAA72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24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solidFill>
              <a:srgbClr val="E35D4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81CF73-DDC2-4A8F-A5EB-852A6DF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23875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mark nodes true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9703B5-CF4A-4D68-A100-EE3E18EE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solidFill>
              <a:srgbClr val="E35D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20CB8E-59BE-4928-A494-8C423E2B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46735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complete goals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08DF17-F6DB-4111-8AAA-D1BA95DE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150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One-line rule: Oracle may suggest. It may not certify.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7FFFD1-4C4F-4B3E-9511-B3E5B195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28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Source: Pudim v2 oracle spec + oracle-chatgpt skill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727FE7-A13C-420A-9E63-755A0C07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B0B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A7B0BA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0870522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D1532C-94EC-4EC8-85AE-56DE34F6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111820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4774304-DEA3-4C99-BEC4-F56E2499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A"/>
          </a:solidFill>
          <a:ln xmlns:a="http://schemas.openxmlformats.org/drawingml/2006/main" w="0">
            <a:solidFill>
              <a:srgbClr val="D8A13A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916B3F3-53CE-4448-9FA5-91655620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0BA"/>
                </a:solidFill>
                <a:latin typeface="Aptos"/>
                <a:ea typeface="Aptos"/>
                <a:cs typeface="Aptos"/>
              </a:rPr>
              <a:t>TOOLS AND CONNECTORS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E4001-2F10-4EE7-B88A-A4806B59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Every connector is a capability with a side-effect boundary.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22976-0E4D-453A-8395-8A06FDD0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476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D"/>
          </a:solidFill>
          <a:ln xmlns:a="http://schemas.openxmlformats.org/drawingml/2006/main" w="9525">
            <a:solidFill>
              <a:srgbClr val="3A46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DED7E-567B-425A-815A-0279E159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B8"/>
          </a:solidFill>
          <a:ln xmlns:a="http://schemas.openxmlformats.org/drawingml/2006/main" w="0">
            <a:solidFill>
              <a:srgbClr val="19A7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0A516-B03F-4058-97E5-552FC3EC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Local runtime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63B7C2-FC63-4D89-AA2C-4DD28A51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7E0D6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7E0D6"/>
                </a:solidFill>
                <a:latin typeface="Aptos Mono"/>
                <a:ea typeface="Aptos Mono"/>
                <a:cs typeface="Aptos Mono"/>
              </a:rPr>
              <a:t>.pudim/ artifacts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11787-7B26-47ED-ADF8-623634CD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7E0D6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7E0D6"/>
                </a:solidFill>
                <a:latin typeface="Aptos Mono"/>
                <a:ea typeface="Aptos Mono"/>
                <a:cs typeface="Aptos Mono"/>
              </a:rPr>
              <a:t>JSON schemas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081ECE-578B-40D9-B192-71F1D4C6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7E0D6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7E0D6"/>
                </a:solidFill>
                <a:latin typeface="Aptos Mono"/>
                <a:ea typeface="Aptos Mono"/>
                <a:cs typeface="Aptos Mono"/>
              </a:rPr>
              <a:t>pudimv2_tool.py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F732A-EACB-426B-977F-F0B6F524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A7B8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9A7B8"/>
                </a:solidFill>
                <a:latin typeface="Aptos Mono"/>
                <a:ea typeface="Aptos Mono"/>
                <a:cs typeface="Aptos Mono"/>
              </a:rPr>
              <a:t>rg / git diff / logs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95A0F1-14C8-4194-81F9-BFC10FC5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76450"/>
            <a:ext cx="2476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D"/>
          </a:solidFill>
          <a:ln xmlns:a="http://schemas.openxmlformats.org/drawingml/2006/main" w="9525">
            <a:solidFill>
              <a:srgbClr val="3A465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0950E-6D02-40DF-AEFC-705FBC65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764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87"/>
          </a:solidFill>
          <a:ln xmlns:a="http://schemas.openxmlformats.org/drawingml/2006/main" w="0">
            <a:solidFill>
              <a:srgbClr val="6FBF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0DF12-9222-41A2-A35D-813F7F7B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812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Research surface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A8E39-0BF9-40CC-8BB6-96EAFAB3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52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7E0D6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7E0D6"/>
                </a:solidFill>
                <a:latin typeface="Aptos Mono"/>
                <a:ea typeface="Aptos Mono"/>
                <a:cs typeface="Aptos Mono"/>
              </a:rPr>
              <a:t>Web / Scout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556B52-5095-4046-9C76-1F4F42F7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718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7E0D6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7E0D6"/>
                </a:solidFill>
                <a:latin typeface="Aptos Mono"/>
                <a:ea typeface="Aptos Mono"/>
                <a:cs typeface="Aptos Mono"/>
              </a:rPr>
              <a:t>Browser / Chrome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DC8ABB-792F-404B-93C5-19154B5C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909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7E0D6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7E0D6"/>
                </a:solidFill>
                <a:latin typeface="Aptos Mono"/>
                <a:ea typeface="Aptos Mono"/>
                <a:cs typeface="Aptos Mono"/>
              </a:rPr>
              <a:t>PDF inspection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581409-4F6E-4782-B817-DBE577BF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100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BF8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6FBF87"/>
                </a:solidFill>
                <a:latin typeface="Aptos Mono"/>
                <a:ea typeface="Aptos Mono"/>
                <a:cs typeface="Aptos Mono"/>
              </a:rPr>
              <a:t>primary-source 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FBADCD-8BCB-4C12-A22D-DE18E883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2476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D"/>
          </a:solidFill>
          <a:ln xmlns:a="http://schemas.openxmlformats.org/drawingml/2006/main" w="9525">
            <a:solidFill>
              <a:srgbClr val="3A465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E939F9-2D07-4E23-82EE-5FC17779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A"/>
          </a:solidFill>
          <a:ln xmlns:a="http://schemas.openxmlformats.org/drawingml/2006/main" w="0">
            <a:solidFill>
              <a:srgbClr val="D8A1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DEB215-A3AC-4E5E-ACC0-361C380B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Publishing surface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17F816-E0B9-4A0E-841A-4AC4DDA0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52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7E0D6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7E0D6"/>
                </a:solidFill>
                <a:latin typeface="Aptos Mono"/>
                <a:ea typeface="Aptos Mono"/>
                <a:cs typeface="Aptos Mono"/>
              </a:rPr>
              <a:t>Tectonic PDF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6944F8-3CD0-4F29-ADFE-04FA23F6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7E0D6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7E0D6"/>
                </a:solidFill>
                <a:latin typeface="Aptos Mono"/>
                <a:ea typeface="Aptos Mono"/>
                <a:cs typeface="Aptos Mono"/>
              </a:rPr>
              <a:t>GitHub sync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4E25CF-5A5D-4A0B-AA05-01CDA1D0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909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7E0D6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7E0D6"/>
                </a:solidFill>
                <a:latin typeface="Aptos Mono"/>
                <a:ea typeface="Aptos Mono"/>
                <a:cs typeface="Aptos Mono"/>
              </a:rPr>
              <a:t>Gmail drafts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D4A962-66FE-4BF5-BDCC-184BCDCB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100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A13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8A13A"/>
                </a:solidFill>
                <a:latin typeface="Aptos Mono"/>
                <a:ea typeface="Aptos Mono"/>
                <a:cs typeface="Aptos Mono"/>
              </a:rPr>
              <a:t>never send by default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9739D8-2B10-4BA1-985F-8D13DB91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76450"/>
            <a:ext cx="2476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D"/>
          </a:solidFill>
          <a:ln xmlns:a="http://schemas.openxmlformats.org/drawingml/2006/main" w="9525">
            <a:solidFill>
              <a:srgbClr val="3A465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A82635-3973-4B70-A2AC-368FE69F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764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FD8"/>
          </a:solidFill>
          <a:ln xmlns:a="http://schemas.openxmlformats.org/drawingml/2006/main" w="0">
            <a:solidFill>
              <a:srgbClr val="7D6F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393B05-E70C-458D-96BB-129DD050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External critic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53F08F-99C4-4D06-BF5B-45C7F809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52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7E0D6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7E0D6"/>
                </a:solidFill>
                <a:latin typeface="Aptos Mono"/>
                <a:ea typeface="Aptos Mono"/>
                <a:cs typeface="Aptos Mono"/>
              </a:rPr>
              <a:t>Oracle ChatGPT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E87D38-824A-4E9D-A52E-75F484FE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718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7E0D6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7E0D6"/>
                </a:solidFill>
                <a:latin typeface="Aptos Mono"/>
                <a:ea typeface="Aptos Mono"/>
                <a:cs typeface="Aptos Mono"/>
              </a:rPr>
              <a:t>request files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77E35F-5965-486F-848C-3EE0D846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909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7E0D6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7E0D6"/>
                </a:solidFill>
                <a:latin typeface="Aptos Mono"/>
                <a:ea typeface="Aptos Mono"/>
                <a:cs typeface="Aptos Mono"/>
              </a:rPr>
              <a:t>response logs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B09814-DE98-4077-A41A-61E37882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2100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D6FD8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7D6FD8"/>
                </a:solidFill>
                <a:latin typeface="Aptos Mono"/>
                <a:ea typeface="Aptos Mono"/>
                <a:cs typeface="Aptos Mono"/>
              </a:rPr>
              <a:t>raw until audited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E45886-D56C-4390-AD10-AB86F828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531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important implementation detail is not the tool list. It is where each tool is allowed to write.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8790CB-6DCA-4298-ADDC-50EE9F40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28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Source: pudimv2_tool.py command surface and connector rules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DE942A-3E66-48B4-9A2C-2E2F866C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B0B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A7B0BA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7573922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8869A3-1556-4C4B-8226-BD2250B1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2025093-623A-4697-B553-E5D4C8C3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solidFill>
              <a:srgbClr val="E35D4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BF2E181-7B2A-4682-AD76-45CDB7F1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733"/>
                </a:solidFill>
                <a:latin typeface="Aptos"/>
                <a:ea typeface="Aptos"/>
                <a:cs typeface="Aptos"/>
              </a:rPr>
              <a:t>STAGING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5A044-058D-4988-B046-9FAB46D9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810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Publishing is a separate, gated phase.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EA6D8-F001-4963-B137-AE0B3D8F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Local staging is user-invoked only. It reads audited Theory state and blocks bad public output.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261E8-B67B-44C5-8344-A7D0FF19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1885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04687-DC3A-48D9-8C23-933E42E3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1885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B8"/>
          </a:solidFill>
          <a:ln xmlns:a="http://schemas.openxmlformats.org/drawingml/2006/main" w="0">
            <a:solidFill>
              <a:srgbClr val="19A7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C90AC-19DF-484C-A4F4-4E83CB0E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3847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Theory graph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F0CE1-9327-486A-841A-2B49590C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1581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true/open 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35FD5-77D3-4453-BDEB-20261581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1945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93B28-2B81-4426-BD81-78514A06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876550"/>
            <a:ext cx="1885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22CE5-3848-45FD-8D5C-3121DA48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876550"/>
            <a:ext cx="1885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A"/>
          </a:solidFill>
          <a:ln xmlns:a="http://schemas.openxmlformats.org/drawingml/2006/main" w="0">
            <a:solidFill>
              <a:srgbClr val="D8A1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58CCCA-B493-4FB4-B64A-8A66DF43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03847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Stage audit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49275-2AF6-4306-8B1C-3E81F352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305175"/>
            <a:ext cx="1581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contradictions, provenance, notation order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B847F-02EC-4BB8-BAF3-76DF05C7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1945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E70341-37A7-41AD-A2DB-A2495661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76550"/>
            <a:ext cx="1885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36EF2B-4B25-47FE-B188-F76ECE8C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76550"/>
            <a:ext cx="1885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87"/>
          </a:solidFill>
          <a:ln xmlns:a="http://schemas.openxmlformats.org/drawingml/2006/main" w="0">
            <a:solidFill>
              <a:srgbClr val="6FBF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275778-1724-4EE7-AAD8-A7C8D386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3847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PDF 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898F81-CE01-49C1-B0A4-91658045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05175"/>
            <a:ext cx="1581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Tectonic compile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888733-EE39-4CC5-93A8-CCF9E67E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1945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C36046-0ADE-41EB-AC5E-43C75F6B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876550"/>
            <a:ext cx="1885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3AAF32-AA27-4086-A9C2-8C5F5910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876550"/>
            <a:ext cx="1885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solidFill>
              <a:srgbClr val="E35D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D2368E-D02D-4C60-BBE4-62F61F5B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03847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Public ledger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A2826D-60F6-4713-8729-C334372F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305175"/>
            <a:ext cx="1581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applications, manifest, README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BDDDE1-A707-4342-9153-0971BF83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1945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9A0D6B-B2D7-43F3-9984-FE630193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76550"/>
            <a:ext cx="1885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094E3F-7B18-4949-BBFA-FAA4539E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76550"/>
            <a:ext cx="1885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FD8"/>
          </a:solidFill>
          <a:ln xmlns:a="http://schemas.openxmlformats.org/drawingml/2006/main" w="0">
            <a:solidFill>
              <a:srgbClr val="7D6F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01214E-2681-4473-8910-E59ACD83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3847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Outreach drafts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F99868-C247-46CC-8826-AF68EF0C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05175"/>
            <a:ext cx="1581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Gmail-ready, never sent automatically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932384-3FB0-4730-89D3-6BBF0442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Hard public gates include: no raw logs, no open-as-theorem promotion, no undefined notation before definition, no informal abstract hype.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3BA7B2-DA77-4D42-B14A-32F430C1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790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This matters because AI output can look polished while still being structurally sloppy.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13F163-546F-45E6-968E-81473200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28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Source: Pudim v2 forage-and-staging spec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84424F-C331-4EBB-A6FA-1F3C62F7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B0B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A7B0BA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2768822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52E333-921A-45BE-8B84-C8B11075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621A11B-9A24-46FB-B4E1-5BE8F32B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solidFill>
              <a:srgbClr val="E35D4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4FF648F-A7F5-496E-BA16-BAD98DE8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733"/>
                </a:solidFill>
                <a:latin typeface="Aptos"/>
                <a:ea typeface="Aptos"/>
                <a:cs typeface="Aptos"/>
              </a:rPr>
              <a:t>CASE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5D030-6EA6-49B7-B505-5F9A8BB6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191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Zeta-law demo: public repo + proof graph.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aaaa9d46e4b07"/>
          <a:srcRect xmlns:a="http://schemas.openxmlformats.org/drawingml/2006/main" l="0" t="7686" r="0" b="76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466850"/>
            <a:ext cx="6191250" cy="36385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A4F98-C029-472F-9918-73DBDE1E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61912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A1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A1F52-9728-48F6-B9D0-F9AA7736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447800"/>
            <a:ext cx="1885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2A306-9EC4-4B0D-9BDF-3E9CAAA2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4478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solidFill>
              <a:srgbClr val="E35D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F15F6-B593-4DC8-864D-BAE44C58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19250"/>
            <a:ext cx="156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E8F56-F03E-4231-A96D-66D4B4B6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193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733"/>
                </a:solidFill>
                <a:latin typeface="Aptos"/>
                <a:ea typeface="Aptos"/>
                <a:cs typeface="Aptos"/>
              </a:rPr>
              <a:t>solved applications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42001E-D243-4B34-9EDF-0875138F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47900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6A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06A63"/>
                </a:solidFill>
                <a:latin typeface="Aptos"/>
                <a:ea typeface="Aptos"/>
                <a:cs typeface="Aptos"/>
              </a:rPr>
              <a:t>public ledger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9F0896-FE5D-44D0-BD08-1195BEA0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447800"/>
            <a:ext cx="1885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4BBFC-FCA0-4D68-A714-78093063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4478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B8"/>
          </a:solidFill>
          <a:ln xmlns:a="http://schemas.openxmlformats.org/drawingml/2006/main" w="0">
            <a:solidFill>
              <a:srgbClr val="19A7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CF74BD-BA76-4523-98FC-0720D287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19250"/>
            <a:ext cx="156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215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8EC62B-9619-4414-861F-F12F5D87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193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733"/>
                </a:solidFill>
                <a:latin typeface="Aptos"/>
                <a:ea typeface="Aptos"/>
                <a:cs typeface="Aptos"/>
              </a:rPr>
              <a:t>public wiki nodes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0EB842-946A-472D-BBFE-550106E8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47900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6A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06A63"/>
                </a:solidFill>
                <a:latin typeface="Aptos"/>
                <a:ea typeface="Aptos"/>
                <a:cs typeface="Aptos"/>
              </a:rPr>
              <a:t>stage_v006 vault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A95D9E-5539-45F9-9458-DF9F243D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24150"/>
            <a:ext cx="1885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1155D-11C4-458C-A0FF-88E8CFBD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241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87"/>
          </a:solidFill>
          <a:ln xmlns:a="http://schemas.openxmlformats.org/drawingml/2006/main" w="0">
            <a:solidFill>
              <a:srgbClr val="6FBF8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FFDF96-8EB4-41CF-92A7-A977736E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95600"/>
            <a:ext cx="156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614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7F56D1-0ACB-4537-9D99-18770F38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9565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733"/>
                </a:solidFill>
                <a:latin typeface="Aptos"/>
                <a:ea typeface="Aptos"/>
                <a:cs typeface="Aptos"/>
              </a:rPr>
              <a:t>public wiki edges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307915-35F3-494A-812D-82396A60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24250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6A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06A63"/>
                </a:solidFill>
                <a:latin typeface="Aptos"/>
                <a:ea typeface="Aptos"/>
                <a:cs typeface="Aptos"/>
              </a:rPr>
              <a:t>graph.json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465274-861B-469C-96AD-1519BEB2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24150"/>
            <a:ext cx="1885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4524AB-9981-4336-916C-BD81476B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241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A"/>
          </a:solidFill>
          <a:ln xmlns:a="http://schemas.openxmlformats.org/drawingml/2006/main" w="0">
            <a:solidFill>
              <a:srgbClr val="D8A1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4F095F-1F35-479F-819F-7811B4AE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95600"/>
            <a:ext cx="156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37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84D5C9-6F3A-43C6-A110-F86E23AA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9565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733"/>
                </a:solidFill>
                <a:latin typeface="Aptos"/>
                <a:ea typeface="Aptos"/>
                <a:cs typeface="Aptos"/>
              </a:rPr>
              <a:t>THEORY_v010 pages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AF282D-BFF7-4C71-9859-10D4D193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24250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6A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06A63"/>
                </a:solidFill>
                <a:latin typeface="Aptos"/>
                <a:ea typeface="Aptos"/>
                <a:cs typeface="Aptos"/>
              </a:rPr>
              <a:t>current PDF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E3E189-32AA-4DB7-8F2F-C9B9F0BE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71950"/>
            <a:ext cx="4038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71AB84-024E-4C3A-BA35-4245BF86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434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Closed problems by source geography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22CC5A-DA1C-404C-811D-1777C22D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482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China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C178A7-338B-43A3-AF66-5262464C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863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3"/>
          </a:solidFill>
          <a:ln xmlns:a="http://schemas.openxmlformats.org/drawingml/2006/main" w="0">
            <a:solidFill>
              <a:srgbClr val="E6DE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F189D8-2E1B-44AE-87CD-847584AF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863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solidFill>
              <a:srgbClr val="E35D4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1A31B5-C9D5-4F24-B11F-C7DA0D3C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482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D2733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D2733"/>
                </a:solidFill>
                <a:latin typeface="Aptos Mono"/>
                <a:ea typeface="Aptos Mono"/>
                <a:cs typeface="Aptos Mono"/>
              </a:rPr>
              <a:t>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276C36-DC38-4F68-838D-48B26966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76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Multi-country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60E573-EBAA-467F-9B21-C8056D33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149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3"/>
          </a:solidFill>
          <a:ln xmlns:a="http://schemas.openxmlformats.org/drawingml/2006/main" w="0">
            <a:solidFill>
              <a:srgbClr val="E6DED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8A79A5-593F-47A8-ACF8-A2138541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14900"/>
            <a:ext cx="952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B8"/>
          </a:solidFill>
          <a:ln xmlns:a="http://schemas.openxmlformats.org/drawingml/2006/main" w="0">
            <a:solidFill>
              <a:srgbClr val="19A7B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7F6BBA-4FE9-4A8B-BDF6-1A6A40E6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76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D2733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D2733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29E9A5-D4DA-4905-BA8A-4979460A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054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Korea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3A27D0-EFCF-4B28-A65B-128F8F9B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435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3"/>
          </a:solidFill>
          <a:ln xmlns:a="http://schemas.openxmlformats.org/drawingml/2006/main" w="0">
            <a:solidFill>
              <a:srgbClr val="E6DED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865144-6187-46A5-9166-868BB037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43500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87"/>
          </a:solidFill>
          <a:ln xmlns:a="http://schemas.openxmlformats.org/drawingml/2006/main" w="0">
            <a:solidFill>
              <a:srgbClr val="6FBF8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3EBBEA-28ED-4CDB-922F-18F77C33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1054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D2733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D2733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44B0BC-8C2D-4017-98AE-13B85576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3340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Other tags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861878-24D8-4F6C-875D-AA2F741F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721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3"/>
          </a:solidFill>
          <a:ln xmlns:a="http://schemas.openxmlformats.org/drawingml/2006/main" w="0">
            <a:solidFill>
              <a:srgbClr val="E6DED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5221C6-6D47-4262-AC4B-882D4D1B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721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A"/>
          </a:solidFill>
          <a:ln xmlns:a="http://schemas.openxmlformats.org/drawingml/2006/main" w="0">
            <a:solidFill>
              <a:srgbClr val="D8A13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428143-AF40-4027-A5AB-2C0B638D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340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D2733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D2733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1068E3-9A8F-4580-B293-5B8A2777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7721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25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258"/>
                </a:solidFill>
                <a:latin typeface="Aptos"/>
                <a:ea typeface="Aptos"/>
                <a:cs typeface="Aptos"/>
              </a:rPr>
              <a:t>Geography chart uses compact public-bibliography tags; audit affiliations before external publication.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FD9014-FD4D-4C22-9A86-E2A411D7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590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Example proof loop: APP-0019 was expanded after author feedback, then patched in v010 without claiming complete-Bernstein/subordination.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B3F5973-2581-460E-8FF2-266799B5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28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Sources: README.md, APPLICATIONS.md, wiki/README.md, theory/latest/THEORY.pdf, public GitHub screenshot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107FED-A4B5-44BD-ACFF-25FF8776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B0B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A7B0BA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0270475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ABCB14-E747-4301-82BE-301B21AC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111820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F1500D3-F541-4AF7-8AA7-11703803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87"/>
          </a:solidFill>
          <a:ln xmlns:a="http://schemas.openxmlformats.org/drawingml/2006/main" w="0">
            <a:solidFill>
              <a:srgbClr val="6FBF87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C1F9070-7D53-40D6-9630-2989CE8D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0BA"/>
                </a:solidFill>
                <a:latin typeface="Aptos"/>
                <a:ea typeface="Aptos"/>
                <a:cs typeface="Aptos"/>
              </a:rPr>
              <a:t>TAKEAWAYS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BFFD7-34BC-4CAF-A3AC-937D0C9F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Build gates for the mistakes you actually observed.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0B432C-1A98-4B06-8C9D-A7120F93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D"/>
          </a:solidFill>
          <a:ln xmlns:a="http://schemas.openxmlformats.org/drawingml/2006/main" w="9525">
            <a:solidFill>
              <a:srgbClr val="3A46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4024E-FC78-44DE-A391-401E54CA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8595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D"/>
          </a:solidFill>
          <a:ln xmlns:a="http://schemas.openxmlformats.org/drawingml/2006/main" w="9525">
            <a:solidFill>
              <a:srgbClr val="3A46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A17F8-DD35-4CDA-B9C4-A295323B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35D4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E35D4F"/>
                </a:solidFill>
                <a:latin typeface="Aptos Display"/>
                <a:ea typeface="Aptos Display"/>
                <a:cs typeface="Aptos Display"/>
              </a:rPr>
              <a:t>Pitfalls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AAEEE-3829-4DB5-B291-9F85DDFB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28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solidFill>
              <a:srgbClr val="E35D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69395-F799-4155-BAD8-28EC5F79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43200"/>
            <a:ext cx="3505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partial progress feels solved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2D29E-73FF-4493-AF30-8D1D675A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9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solidFill>
              <a:srgbClr val="E35D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E5CE60-D155-4BFF-8A1D-E3575325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24200"/>
            <a:ext cx="3505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external models sound authoritative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407A6B-3A26-4153-8AF1-C6B33BA9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90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solidFill>
              <a:srgbClr val="E35D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45F0D3-4D11-4287-8C65-0446D5E2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05200"/>
            <a:ext cx="3505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agents stop unless done is encoded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B7274-807C-4857-AF6D-82E16B4D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71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solidFill>
              <a:srgbClr val="E35D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5901D6-4744-4F29-BAA8-7DCA4072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86200"/>
            <a:ext cx="3505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beautiful proofs still need notation and attribution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A68667-0AEA-4C5B-92CF-0A0182BD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907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FBF8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6FBF87"/>
                </a:solidFill>
                <a:latin typeface="Aptos Display"/>
                <a:ea typeface="Aptos Display"/>
                <a:cs typeface="Aptos Display"/>
              </a:rPr>
              <a:t>Practices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8440C-CD46-4D38-BFA6-6C9FA7CE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28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87"/>
          </a:solidFill>
          <a:ln xmlns:a="http://schemas.openxmlformats.org/drawingml/2006/main" w="0">
            <a:solidFill>
              <a:srgbClr val="6FBF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734DD0-EF86-4B3E-9EFD-7C0A8E92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43200"/>
            <a:ext cx="3505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treat AI coding as SPEC 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FA089F-D562-456F-A05B-15ABB5ED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09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87"/>
          </a:solidFill>
          <a:ln xmlns:a="http://schemas.openxmlformats.org/drawingml/2006/main" w="0">
            <a:solidFill>
              <a:srgbClr val="6FBF8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BA8CBB-5822-4210-B160-79BEB0ED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24200"/>
            <a:ext cx="3505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put authority in typed artifacts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165569-8AEB-4FDB-867D-06C85E3A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90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87"/>
          </a:solidFill>
          <a:ln xmlns:a="http://schemas.openxmlformats.org/drawingml/2006/main" w="0">
            <a:solidFill>
              <a:srgbClr val="6FBF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D5CEF5-D8DE-4464-8B07-25FA8B20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05200"/>
            <a:ext cx="3505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separate raw material from truth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ADD409-4CAC-45C8-A132-D591F959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71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87"/>
          </a:solidFill>
          <a:ln xmlns:a="http://schemas.openxmlformats.org/drawingml/2006/main" w="0">
            <a:solidFill>
              <a:srgbClr val="6FBF8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02DF1F-E736-42E2-8B85-9DBB4A14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505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make side effects explicit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5AA380-B833-45CF-9697-9D48FF52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A13A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D8A13A"/>
                </a:solidFill>
                <a:latin typeface="Aptos Mono"/>
                <a:ea typeface="Aptos Mono"/>
                <a:cs typeface="Aptos Mono"/>
              </a:rPr>
              <a:t>$ Pudim turns AI from chat partner into research-and-publication runtime.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E534BA-3349-44D5-B622-25C073B6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828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3A7"/>
                </a:solidFill>
                <a:latin typeface="Aptos"/>
                <a:ea typeface="Aptos"/>
                <a:cs typeface="Aptos"/>
              </a:rPr>
              <a:t>Closing line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EC4268-A273-4CD2-A0AE-7E4066A6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798068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2026-06-02T12:39:11.0950000Z</dcterms:created>
  <dcterms:modified xsi:type="dcterms:W3CDTF">2026-06-02T12:39:11.0950000Z</dcterms:modified>
</coreProperties>
</file>